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6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1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22.png"/><Relationship Id="rId7" Type="http://schemas.openxmlformats.org/officeDocument/2006/relationships/image" Target="../media/image28.png"/><Relationship Id="rId8" Type="http://schemas.openxmlformats.org/officeDocument/2006/relationships/image" Target="../media/image4.png"/><Relationship Id="rId9" Type="http://schemas.openxmlformats.org/officeDocument/2006/relationships/image" Target="../media/image8.png"/><Relationship Id="rId10" Type="http://schemas.openxmlformats.org/officeDocument/2006/relationships/image" Target="../media/image7.png"/><Relationship Id="rId11" Type="http://schemas.openxmlformats.org/officeDocument/2006/relationships/image" Target="../media/image29.png"/><Relationship Id="rId12" Type="http://schemas.openxmlformats.org/officeDocument/2006/relationships/image" Target="../media/image17.png"/><Relationship Id="rId13" Type="http://schemas.openxmlformats.org/officeDocument/2006/relationships/image" Target="../media/image30.png"/><Relationship Id="rId14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31.png"/><Relationship Id="rId4" Type="http://schemas.openxmlformats.org/officeDocument/2006/relationships/image" Target="../media/image28.png"/><Relationship Id="rId5" Type="http://schemas.openxmlformats.org/officeDocument/2006/relationships/image" Target="../media/image9.png"/><Relationship Id="rId6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36120" y="576000"/>
            <a:ext cx="1007999" cy="1007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679" y="898559"/>
            <a:ext cx="362879" cy="3628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000" y="2052000"/>
            <a:ext cx="11040119" cy="15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200" b="1">
                <a:solidFill>
                  <a:srgbClr val="14120E"/>
                </a:solidFill>
              </a:rPr>
              <a:t>FitMind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000" y="3564000"/>
            <a:ext cx="11040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F6A1A"/>
                </a:solidFill>
              </a:rPr>
              <a:t>AI-Powered Fitness &amp; Nutrition Companion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000" y="4194000"/>
            <a:ext cx="7200000" cy="252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000" y="4338000"/>
            <a:ext cx="1104011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666666"/>
                </a:solidFill>
              </a:rPr>
              <a:t>Mohamed Taha  ·  Medhat Ahmed  ·  Ahmed Saber  ·  Mohammed Gamal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" y="4644000"/>
            <a:ext cx="1104011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666666"/>
                </a:solidFill>
              </a:rPr>
              <a:t>Dr. Osama Ismail  ·  TA. Doaa Ghaleb  ·  Cairo University FCAI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arning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The Fitness App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3536039" cy="19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60000"/>
            <a:ext cx="39600" cy="1980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966019" y="14220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ar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779" y="1571760"/>
            <a:ext cx="168480" cy="168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0000" y="1998000"/>
            <a:ext cx="332003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6A1A"/>
                </a:solidFill>
              </a:rPr>
              <a:t>Generic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000" y="2502000"/>
            <a:ext cx="3176039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14120E"/>
                </a:solidFill>
              </a:rPr>
              <a:t>Same plan for every user, any goal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84039" y="1260000"/>
            <a:ext cx="3536039" cy="19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84039" y="1260000"/>
            <a:ext cx="39600" cy="1980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18059" y="14220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warning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819" y="1571760"/>
            <a:ext cx="168480" cy="168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292039" y="1998000"/>
            <a:ext cx="332003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6A1A"/>
                </a:solidFill>
              </a:rPr>
              <a:t>Unsafe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4039" y="2502000"/>
            <a:ext cx="3176039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14120E"/>
                </a:solidFill>
              </a:rPr>
              <a:t>Conditions &amp; allergies routinely ignored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36079" y="1260000"/>
            <a:ext cx="3536039" cy="19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36079" y="1260000"/>
            <a:ext cx="39600" cy="1980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70099" y="14220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ell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9859" y="1571760"/>
            <a:ext cx="168480" cy="168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044079" y="1998000"/>
            <a:ext cx="332003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6A1A"/>
                </a:solidFill>
              </a:rPr>
              <a:t>Passive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6079" y="2502000"/>
            <a:ext cx="3176039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14120E"/>
                </a:solidFill>
              </a:rPr>
              <a:t>Shows data — never turns it into advice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3474000"/>
            <a:ext cx="1132811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4120E"/>
                </a:solidFill>
              </a:rPr>
              <a:t>Every user gets the same generic plan — no adaptation, no safety.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000" y="3960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har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479" y="4092479"/>
            <a:ext cx="149039" cy="14903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54000" y="4032000"/>
            <a:ext cx="1075211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14120E"/>
                </a:solidFill>
              </a:rPr>
              <a:t>Beginners and elite athletes get the identical plan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2000" y="4590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warning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79" y="4722479"/>
            <a:ext cx="149039" cy="14903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54000" y="4662000"/>
            <a:ext cx="1075211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14120E"/>
                </a:solidFill>
              </a:rPr>
              <a:t>One wrong recommendation can aggravate an injury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2000" y="5220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bell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479" y="5352479"/>
            <a:ext cx="149039" cy="14903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54000" y="5292000"/>
            <a:ext cx="1075211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14120E"/>
                </a:solidFill>
              </a:rPr>
              <a:t>Motivation fades without anyone checking 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ophy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COMPETITORS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How FitMind Compares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2000" y="1260000"/>
          <a:ext cx="8892000" cy="48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000"/>
                <a:gridCol w="1404000"/>
                <a:gridCol w="1296000"/>
                <a:gridCol w="1764000"/>
                <a:gridCol w="1692000"/>
              </a:tblGrid>
              <a:tr h="612000">
                <a:tc>
                  <a:txBody>
                    <a:bodyPr wrap="square"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14120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FitMind</a:t>
                      </a:r>
                    </a:p>
                  </a:txBody>
                  <a:tcPr>
                    <a:solidFill>
                      <a:srgbClr val="FF6A1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</a:rPr>
                        <a:t>Vora</a:t>
                      </a:r>
                    </a:p>
                  </a:txBody>
                  <a:tcPr>
                    <a:solidFill>
                      <a:srgbClr val="14120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</a:rPr>
                        <a:t>Freeletics</a:t>
                      </a:r>
                    </a:p>
                  </a:txBody>
                  <a:tcPr>
                    <a:solidFill>
                      <a:srgbClr val="14120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</a:rPr>
                        <a:t>Zing Coach</a:t>
                      </a:r>
                    </a:p>
                  </a:txBody>
                  <a:tcPr>
                    <a:solidFill>
                      <a:srgbClr val="14120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12000">
                <a:tc>
                  <a:txBody>
                    <a:bodyPr wrap="square"/>
                    <a:lstStyle/>
                    <a:p>
                      <a:pPr algn="l"/>
                      <a:r>
                        <a:rPr sz="1900" b="0">
                          <a:solidFill>
                            <a:srgbClr val="14120E"/>
                          </a:solidFill>
                        </a:rPr>
                        <a:t>AI Workout Plans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12000">
                <a:tc>
                  <a:txBody>
                    <a:bodyPr wrap="square"/>
                    <a:lstStyle/>
                    <a:p>
                      <a:pPr algn="l"/>
                      <a:r>
                        <a:rPr sz="1900" b="0">
                          <a:solidFill>
                            <a:srgbClr val="14120E"/>
                          </a:solidFill>
                        </a:rPr>
                        <a:t>AI Nutrition Plans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12000">
                <a:tc>
                  <a:txBody>
                    <a:bodyPr wrap="square"/>
                    <a:lstStyle/>
                    <a:p>
                      <a:pPr algn="l"/>
                      <a:r>
                        <a:rPr sz="1900" b="0">
                          <a:solidFill>
                            <a:srgbClr val="14120E"/>
                          </a:solidFill>
                        </a:rPr>
                        <a:t>Camera Meal Scan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12000">
                <a:tc>
                  <a:txBody>
                    <a:bodyPr wrap="square"/>
                    <a:lstStyle/>
                    <a:p>
                      <a:pPr algn="l"/>
                      <a:r>
                        <a:rPr sz="1900" b="0">
                          <a:solidFill>
                            <a:srgbClr val="14120E"/>
                          </a:solidFill>
                        </a:rPr>
                        <a:t>Voice Logging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12000">
                <a:tc>
                  <a:txBody>
                    <a:bodyPr wrap="square"/>
                    <a:lstStyle/>
                    <a:p>
                      <a:pPr algn="l"/>
                      <a:r>
                        <a:rPr sz="1900" b="0">
                          <a:solidFill>
                            <a:srgbClr val="14120E"/>
                          </a:solidFill>
                        </a:rPr>
                        <a:t>Daily AI Coaching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12000">
                <a:tc>
                  <a:txBody>
                    <a:bodyPr wrap="square"/>
                    <a:lstStyle/>
                    <a:p>
                      <a:pPr algn="l"/>
                      <a:r>
                        <a:rPr sz="1900" b="0">
                          <a:solidFill>
                            <a:srgbClr val="14120E"/>
                          </a:solidFill>
                        </a:rPr>
                        <a:t>Condition Safety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12000">
                <a:tc>
                  <a:txBody>
                    <a:bodyPr wrap="square"/>
                    <a:lstStyle/>
                    <a:p>
                      <a:pPr algn="l"/>
                      <a:r>
                        <a:rPr sz="1900" b="0">
                          <a:solidFill>
                            <a:srgbClr val="14120E"/>
                          </a:solidFill>
                        </a:rPr>
                        <a:t>Unified Fitness Score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32000" y="6462000"/>
            <a:ext cx="1132811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</a:rPr>
              <a:t>Vora, Freeletics &amp; Zing Coach are the closest AI-first fitness coaches on the market.  Partial = feature exists but limited depth.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p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Introducing FitMind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60000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000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arge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60" y="1560960"/>
            <a:ext cx="168480" cy="168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52000" y="1476000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Personalized AI Plans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000" y="1997999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17-question health assessment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Injuries, allergies &amp; meds included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60058" y="1260000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60058" y="1260000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22058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amer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818" y="1560960"/>
            <a:ext cx="168480" cy="168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80058" y="1476000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Multimodal Logging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2058" y="1997999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Camera scan → macros instantly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Voice log → hands-free tracking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" y="3897502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2000" y="3897502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4000" y="4048702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obot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760" y="4198462"/>
            <a:ext cx="168480" cy="168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52000" y="4113502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Daily AI Coaching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000" y="4635501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Checked hourly, sent at your hour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One AI tip, straight to your phone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60058" y="3897502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60058" y="3897502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22058" y="4048702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hart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1818" y="4198462"/>
            <a:ext cx="168480" cy="1684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80058" y="4113502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Unified Fitness 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22058" y="4635501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0–100 across 6 health areas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Computed live from your last 7 days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ayers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5</a:t>
            </a:r>
          </a:p>
        </p:txBody>
      </p:sp>
      <p:pic>
        <p:nvPicPr>
          <p:cNvPr id="8" name="Picture 7" descr="arch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207" y="1260000"/>
            <a:ext cx="8091703" cy="53820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pu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AI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Plan Generation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ser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20" y="1419120"/>
            <a:ext cx="293760" cy="2937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23600" y="1872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2000" y="1267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1.  User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2000" y="1591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Assessment answers feed the TDEE targets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2196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obot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20" y="2355120"/>
            <a:ext cx="293760" cy="2937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23600" y="2808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2000" y="2203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2.  Generate — Qwen 235B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2000" y="2527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Targets, safety rules &amp; food IDs combined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" y="3132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hield-check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120" y="3291120"/>
            <a:ext cx="293760" cy="29376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23600" y="3744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2000" y="3139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3.  Judge — gpt-4o-mini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2000" y="3463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Checks the plan for safety and format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000" y="4068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wrench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120" y="4227120"/>
            <a:ext cx="293760" cy="29376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723600" y="4680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42000" y="4075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4.  Fix Once (if needed)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42000" y="4399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One repair pass if the judge flags 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2000" y="5004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lock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120" y="5163120"/>
            <a:ext cx="293760" cy="2937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42000" y="5011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5.  Allergy 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42000" y="5335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Removes any allergy-flagged foods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76059" y="1260000"/>
            <a:ext cx="5484059" cy="3096000"/>
          </a:xfrm>
          <a:prstGeom prst="roundRect">
            <a:avLst>
              <a:gd name="adj" fmla="val 7000"/>
            </a:avLst>
          </a:prstGeom>
          <a:solidFill>
            <a:srgbClr val="FFF7F2"/>
          </a:solidFill>
          <a:ln w="16510">
            <a:solidFill>
              <a:srgbClr val="FF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38059" y="1404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sigma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0539" y="1536479"/>
            <a:ext cx="149039" cy="14903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942059" y="1458000"/>
            <a:ext cx="4692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F6A1A"/>
                </a:solidFill>
              </a:rPr>
              <a:t>Three-Channel System Prompt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6059" y="2015999"/>
            <a:ext cx="5124059" cy="201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14120E"/>
                </a:solidFill>
              </a:rPr>
              <a:t>•  P — deterministic TDEE targets</a:t>
            </a:r>
          </a:p>
          <a:p>
            <a:pPr algn="l">
              <a:spcBef>
                <a:spcPts val="2800"/>
              </a:spcBef>
            </a:pPr>
            <a:r>
              <a:rPr sz="1800">
                <a:solidFill>
                  <a:srgbClr val="14120E"/>
                </a:solidFill>
              </a:rPr>
              <a:t>•  C — condition-specific safety rules</a:t>
            </a:r>
          </a:p>
          <a:p>
            <a:pPr algn="l">
              <a:spcBef>
                <a:spcPts val="2800"/>
              </a:spcBef>
            </a:pPr>
            <a:r>
              <a:rPr sz="1800">
                <a:solidFill>
                  <a:srgbClr val="14120E"/>
                </a:solidFill>
              </a:rPr>
              <a:t>•  B — whitelisted food &amp; exercise IDs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76059" y="4500000"/>
            <a:ext cx="5484059" cy="111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84059" y="4626000"/>
            <a:ext cx="5268059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700" b="1">
                <a:solidFill>
                  <a:srgbClr val="FF6A1A"/>
                </a:solidFill>
              </a:rPr>
              <a:t>1,200 – 5,000 kcal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4059" y="5058000"/>
            <a:ext cx="526805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666666"/>
                </a:solidFill>
              </a:rPr>
              <a:t>TDEE clamp range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rch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Hybrid Search for Fitness Knowledge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96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earch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20" y="1455120"/>
            <a:ext cx="293760" cy="2937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23600" y="1908000"/>
            <a:ext cx="28800" cy="54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2000" y="1303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1.  AI Coach or Plan 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2000" y="1627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A chat message or plan-generation call comes 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2448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is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20" y="2607120"/>
            <a:ext cx="293760" cy="2937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23600" y="3060000"/>
            <a:ext cx="28800" cy="54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2000" y="2455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2.  BM25 Okapi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2000" y="2779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Keyword scoring over scraped guideline articles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" y="3600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databas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20" y="3759120"/>
            <a:ext cx="293760" cy="29376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23600" y="4212000"/>
            <a:ext cx="28800" cy="54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2000" y="3607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3.  ChromaDB Semantic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2000" y="3931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Dense embeddings over the same knowledge base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000" y="4752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igma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120" y="4911120"/>
            <a:ext cx="293760" cy="2937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42000" y="4759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4.  Reciprocal Rank Fusion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42000" y="5083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Rankings merged:  score = Σ 1/(k+rank),  k = 60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6059" y="1296000"/>
            <a:ext cx="5484059" cy="93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76059" y="1296000"/>
            <a:ext cx="39600" cy="936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0059" y="1421999"/>
            <a:ext cx="523206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F6A1A"/>
                </a:solidFill>
              </a:rPr>
              <a:t>ACSM · NSCA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0059" y="1890000"/>
            <a:ext cx="523206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</a:rPr>
              <a:t>WHO · ISSN · IOC · NIH sources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76059" y="2448000"/>
            <a:ext cx="5484059" cy="93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76059" y="2448000"/>
            <a:ext cx="39600" cy="936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0059" y="2573999"/>
            <a:ext cx="523206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F6A1A"/>
                </a:solidFill>
              </a:rPr>
              <a:t>20 + 20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0059" y="3042000"/>
            <a:ext cx="523206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</a:rPr>
              <a:t>BM25 + dense candidates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76059" y="3600000"/>
            <a:ext cx="5484059" cy="93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76059" y="3600000"/>
            <a:ext cx="39600" cy="936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0059" y="3725999"/>
            <a:ext cx="523206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F6A1A"/>
                </a:solidFill>
              </a:rPr>
              <a:t>k = 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0059" y="4194000"/>
            <a:ext cx="523206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</a:rPr>
              <a:t>RRF constant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76059" y="4752000"/>
            <a:ext cx="5484059" cy="93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76059" y="4752000"/>
            <a:ext cx="39600" cy="936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0059" y="4877999"/>
            <a:ext cx="523206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F6A1A"/>
                </a:solidFill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20059" y="5346000"/>
            <a:ext cx="523206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</a:rPr>
              <a:t>rankers fused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2000" y="6516000"/>
            <a:ext cx="1132811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50" b="0">
                <a:solidFill>
                  <a:srgbClr val="666666"/>
                </a:solidFill>
              </a:rPr>
              <a:t>Feeds AI Coach chat &amp; plan generation — food lookup itself is separate (SQL + pgvector).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art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FitMind Score — How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04119" y="1260000"/>
            <a:ext cx="2556000" cy="2268000"/>
          </a:xfrm>
          <a:prstGeom prst="roundRect">
            <a:avLst>
              <a:gd name="adj" fmla="val 7000"/>
            </a:avLst>
          </a:prstGeom>
          <a:solidFill>
            <a:srgbClr val="FFF7F2"/>
          </a:solidFill>
          <a:ln w="19050">
            <a:solidFill>
              <a:srgbClr val="FF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76119" y="1368000"/>
            <a:ext cx="2412000" cy="7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800" b="1">
                <a:solidFill>
                  <a:srgbClr val="FF6A1A"/>
                </a:solidFill>
              </a:rPr>
              <a:t>0–100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76119" y="2142000"/>
            <a:ext cx="24120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14120E"/>
                </a:solidFill>
              </a:rPr>
              <a:t>Composite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76119" y="2430000"/>
            <a:ext cx="24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0">
                <a:solidFill>
                  <a:srgbClr val="666666"/>
                </a:solidFill>
              </a:rPr>
              <a:t>Last 7 days of logs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76119" y="2646000"/>
            <a:ext cx="24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0">
                <a:solidFill>
                  <a:srgbClr val="666666"/>
                </a:solidFill>
              </a:rPr>
              <a:t>Rule-based, no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6119" y="2862000"/>
            <a:ext cx="24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0">
                <a:solidFill>
                  <a:srgbClr val="666666"/>
                </a:solidFill>
              </a:rPr>
              <a:t>Computed on demand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1260000"/>
            <a:ext cx="6840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Score Components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" y="1710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pple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440" y="1819440"/>
            <a:ext cx="123120" cy="1231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4000" y="1764000"/>
            <a:ext cx="23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20E"/>
                </a:solidFill>
              </a:rPr>
              <a:t>Nutrition compliance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1999" y="1789200"/>
            <a:ext cx="4500000" cy="23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11999" y="1789200"/>
            <a:ext cx="4500000" cy="23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0000" y="1746000"/>
            <a:ext cx="6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6A1A"/>
                </a:solidFill>
              </a:rPr>
              <a:t>25%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" y="2286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umbbell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440" y="2395440"/>
            <a:ext cx="123120" cy="1231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64000" y="2340000"/>
            <a:ext cx="23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20E"/>
                </a:solidFill>
              </a:rPr>
              <a:t>Strength (workouts)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11999" y="2365200"/>
            <a:ext cx="4500000" cy="23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11999" y="2365200"/>
            <a:ext cx="3600000" cy="23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20000" y="2322000"/>
            <a:ext cx="6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6A1A"/>
                </a:solidFill>
              </a:rPr>
              <a:t>20%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000" y="2862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activity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440" y="2971440"/>
            <a:ext cx="123120" cy="1231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64000" y="2916000"/>
            <a:ext cx="23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20E"/>
                </a:solidFill>
              </a:rPr>
              <a:t>Endurance (cardio)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11999" y="2941200"/>
            <a:ext cx="4500000" cy="23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11999" y="2941200"/>
            <a:ext cx="3600000" cy="23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20000" y="2898000"/>
            <a:ext cx="6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6A1A"/>
                </a:solidFill>
              </a:rPr>
              <a:t>20%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2000" y="3438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bolt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440" y="3547440"/>
            <a:ext cx="123120" cy="1231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64000" y="3492000"/>
            <a:ext cx="23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20E"/>
                </a:solidFill>
              </a:rPr>
              <a:t>Agility &amp; flexibility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11999" y="3517200"/>
            <a:ext cx="4500000" cy="23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11999" y="3517200"/>
            <a:ext cx="2700000" cy="23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20000" y="3474000"/>
            <a:ext cx="6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6A1A"/>
                </a:solidFill>
              </a:rPr>
              <a:t>15%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2000" y="4014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droplet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440" y="4123440"/>
            <a:ext cx="123120" cy="12312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64000" y="4068000"/>
            <a:ext cx="23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20E"/>
                </a:solidFill>
              </a:rPr>
              <a:t>Hydration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11999" y="4093200"/>
            <a:ext cx="4500000" cy="23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11999" y="4093200"/>
            <a:ext cx="1800000" cy="23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20000" y="4050000"/>
            <a:ext cx="6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6A1A"/>
                </a:solidFill>
              </a:rPr>
              <a:t>10%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2000" y="4590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moon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440" y="4699440"/>
            <a:ext cx="123120" cy="12312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64000" y="4644000"/>
            <a:ext cx="2376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20E"/>
                </a:solidFill>
              </a:rPr>
              <a:t>Sleep quality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11999" y="4669200"/>
            <a:ext cx="4500000" cy="23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311999" y="4669200"/>
            <a:ext cx="1800000" cy="234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20000" y="4626000"/>
            <a:ext cx="648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6A1A"/>
                </a:solidFill>
              </a:rPr>
              <a:t>10%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2000" y="5436000"/>
            <a:ext cx="11328119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</a:rPr>
              <a:t>e.g. Nutrition = logging consistency (40%) + calorie adherence (35%) + protein adherence (25%)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igma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MATH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TDEE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5580000" cy="334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60000"/>
            <a:ext cx="5580000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6000" y="1422000"/>
            <a:ext cx="432000" cy="43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igma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240" y="1560240"/>
            <a:ext cx="155520" cy="155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6000" y="1494000"/>
            <a:ext cx="4680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4120E"/>
                </a:solidFill>
              </a:rPr>
              <a:t>BMR — Mifflin-St Jeor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000" y="2052000"/>
            <a:ext cx="5220000" cy="24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50">
                <a:solidFill>
                  <a:srgbClr val="14120E"/>
                </a:solidFill>
              </a:rPr>
              <a:t>•  Men:    10×kg + 6.25×cm − 5×age + 5</a:t>
            </a:r>
          </a:p>
          <a:p>
            <a:pPr algn="l">
              <a:spcBef>
                <a:spcPts val="2200"/>
              </a:spcBef>
            </a:pPr>
            <a:r>
              <a:rPr sz="1850">
                <a:solidFill>
                  <a:srgbClr val="14120E"/>
                </a:solidFill>
              </a:rPr>
              <a:t>•  Women:  10×kg + 6.25×cm − 5×age − 161</a:t>
            </a:r>
          </a:p>
          <a:p>
            <a:pPr algn="l">
              <a:spcBef>
                <a:spcPts val="2200"/>
              </a:spcBef>
            </a:pPr>
            <a:r>
              <a:rPr sz="1850">
                <a:solidFill>
                  <a:srgbClr val="14120E"/>
                </a:solidFill>
              </a:rPr>
              <a:t>•  Goal delta: +450 kcal to build muscle</a:t>
            </a:r>
          </a:p>
          <a:p>
            <a:pPr algn="l">
              <a:spcBef>
                <a:spcPts val="2200"/>
              </a:spcBef>
            </a:pPr>
            <a:r>
              <a:rPr sz="1850">
                <a:solidFill>
                  <a:srgbClr val="14120E"/>
                </a:solidFill>
              </a:rPr>
              <a:t>•  −400 kcal to lose weight, +0 to maintain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2000" y="1260000"/>
            <a:ext cx="5580000" cy="334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2000" y="1260000"/>
            <a:ext cx="5580000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36000" y="1422000"/>
            <a:ext cx="432000" cy="43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ctivity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4240" y="1560240"/>
            <a:ext cx="155520" cy="155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76000" y="1494000"/>
            <a:ext cx="4680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4120E"/>
                </a:solidFill>
              </a:rPr>
              <a:t>Activity &amp; Limits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2000" y="2052000"/>
            <a:ext cx="5220000" cy="24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50">
                <a:solidFill>
                  <a:srgbClr val="14120E"/>
                </a:solidFill>
              </a:rPr>
              <a:t>•  Sedentary ×1.20  ·  Light ×1.375</a:t>
            </a:r>
          </a:p>
          <a:p>
            <a:pPr algn="l">
              <a:spcBef>
                <a:spcPts val="2200"/>
              </a:spcBef>
            </a:pPr>
            <a:r>
              <a:rPr sz="1850">
                <a:solidFill>
                  <a:srgbClr val="14120E"/>
                </a:solidFill>
              </a:rPr>
              <a:t>•  Moderate ×1.55  ·  Active ×1.725</a:t>
            </a:r>
          </a:p>
          <a:p>
            <a:pPr algn="l">
              <a:spcBef>
                <a:spcPts val="2200"/>
              </a:spcBef>
            </a:pPr>
            <a:r>
              <a:rPr sz="1850">
                <a:solidFill>
                  <a:srgbClr val="14120E"/>
                </a:solidFill>
              </a:rPr>
              <a:t>•  Very active ×1.90</a:t>
            </a:r>
          </a:p>
          <a:p>
            <a:pPr algn="l">
              <a:spcBef>
                <a:spcPts val="2200"/>
              </a:spcBef>
            </a:pPr>
            <a:r>
              <a:rPr sz="1850">
                <a:solidFill>
                  <a:srgbClr val="14120E"/>
                </a:solidFill>
              </a:rPr>
              <a:t>•  Clamped to 1,200 – 5,000 kcal / day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" y="4716000"/>
            <a:ext cx="11340000" cy="972000"/>
          </a:xfrm>
          <a:prstGeom prst="roundRect">
            <a:avLst>
              <a:gd name="adj" fmla="val 7000"/>
            </a:avLst>
          </a:prstGeom>
          <a:solidFill>
            <a:srgbClr val="FFF7F2"/>
          </a:solidFill>
          <a:ln w="19050">
            <a:solidFill>
              <a:srgbClr val="FF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000" y="4878000"/>
            <a:ext cx="503999" cy="50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target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279" y="5039279"/>
            <a:ext cx="181439" cy="18143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24000" y="4860000"/>
            <a:ext cx="288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6A1A"/>
                </a:solidFill>
              </a:rPr>
              <a:t>Worked example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4000" y="5130000"/>
            <a:ext cx="1044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0">
                <a:solidFill>
                  <a:srgbClr val="14120E"/>
                </a:solidFill>
              </a:rPr>
              <a:t>25yo male · 80 kg · 180 cm · moderate activity  →  TDEE ≈ 2,798 kcal / day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end-up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Feature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5376059" cy="284169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60000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000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rend-up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60" y="1560960"/>
            <a:ext cx="168480" cy="168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52000" y="1476000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Trend Slopes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000" y="1997999"/>
            <a:ext cx="5052059" cy="20316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>
                <a:solidFill>
                  <a:srgbClr val="14120E"/>
                </a:solidFill>
              </a:rPr>
              <a:t>•  numpy polyfit fits a line through daily values</a:t>
            </a:r>
          </a:p>
          <a:p>
            <a:pPr algn="l">
              <a:spcBef>
                <a:spcPts val="900"/>
              </a:spcBef>
            </a:pPr>
            <a:r>
              <a:rPr sz="1650">
                <a:solidFill>
                  <a:srgbClr val="14120E"/>
                </a:solidFill>
              </a:rPr>
              <a:t>•  Calorie trend — is intake rising or falling?</a:t>
            </a:r>
          </a:p>
          <a:p>
            <a:pPr algn="l">
              <a:spcBef>
                <a:spcPts val="900"/>
              </a:spcBef>
            </a:pPr>
            <a:r>
              <a:rPr sz="1650">
                <a:solidFill>
                  <a:srgbClr val="14120E"/>
                </a:solidFill>
              </a:rPr>
              <a:t>•  Volume trend — progressing or plateaued?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60058" y="1260000"/>
            <a:ext cx="5376059" cy="284169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60058" y="1260000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22058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har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818" y="1560960"/>
            <a:ext cx="168480" cy="168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80058" y="1476000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Macro Balance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2058" y="1997999"/>
            <a:ext cx="5052059" cy="20316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>
                <a:solidFill>
                  <a:srgbClr val="14120E"/>
                </a:solidFill>
              </a:rPr>
              <a:t>•  Actual protein/carb/fat % vs. plan target</a:t>
            </a:r>
          </a:p>
          <a:p>
            <a:pPr algn="l">
              <a:spcBef>
                <a:spcPts val="900"/>
              </a:spcBef>
            </a:pPr>
            <a:r>
              <a:rPr sz="1650">
                <a:solidFill>
                  <a:srgbClr val="14120E"/>
                </a:solidFill>
              </a:rPr>
              <a:t>•  Score = 100 − total macro deviation</a:t>
            </a:r>
          </a:p>
          <a:p>
            <a:pPr algn="l">
              <a:spcBef>
                <a:spcPts val="900"/>
              </a:spcBef>
            </a:pPr>
            <a:r>
              <a:rPr sz="1650">
                <a:solidFill>
                  <a:srgbClr val="14120E"/>
                </a:solidFill>
              </a:rPr>
              <a:t>•  Catches "right calories, wrong macros"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" y="4353694"/>
            <a:ext cx="5376059" cy="284169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2000" y="4353694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4000" y="4504894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dumbbell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760" y="4654654"/>
            <a:ext cx="168480" cy="168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52000" y="4569694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Exercise Progressions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000" y="5091693"/>
            <a:ext cx="5052059" cy="20316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>
                <a:solidFill>
                  <a:srgbClr val="14120E"/>
                </a:solidFill>
              </a:rPr>
              <a:t>•  Per-lift: first session vs. most recent</a:t>
            </a:r>
          </a:p>
          <a:p>
            <a:pPr algn="l">
              <a:spcBef>
                <a:spcPts val="900"/>
              </a:spcBef>
            </a:pPr>
            <a:r>
              <a:rPr sz="1650">
                <a:solidFill>
                  <a:srgbClr val="14120E"/>
                </a:solidFill>
              </a:rPr>
              <a:t>•  e.g. "Bench Press +18%" this month</a:t>
            </a:r>
          </a:p>
          <a:p>
            <a:pPr algn="l">
              <a:spcBef>
                <a:spcPts val="900"/>
              </a:spcBef>
            </a:pPr>
            <a:r>
              <a:rPr sz="1650">
                <a:solidFill>
                  <a:srgbClr val="14120E"/>
                </a:solidFill>
              </a:rPr>
              <a:t>•  Sorted so the biggest movers surface first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60058" y="4353694"/>
            <a:ext cx="5376059" cy="284169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60058" y="4353694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22058" y="4504894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shield-check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1818" y="4654654"/>
            <a:ext cx="168480" cy="1684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80058" y="4569694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Consistency 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22058" y="5091693"/>
            <a:ext cx="5052059" cy="20316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>
                <a:solidFill>
                  <a:srgbClr val="14120E"/>
                </a:solidFill>
              </a:rPr>
              <a:t>•  Calories 40% + frequency 40% + logging 20%</a:t>
            </a:r>
          </a:p>
          <a:p>
            <a:pPr algn="l">
              <a:spcBef>
                <a:spcPts val="900"/>
              </a:spcBef>
            </a:pPr>
            <a:r>
              <a:rPr sz="1650">
                <a:solidFill>
                  <a:srgbClr val="14120E"/>
                </a:solidFill>
              </a:rPr>
              <a:t>•  On track at ≥65% (and ≥75% on calories)</a:t>
            </a:r>
          </a:p>
          <a:p>
            <a:pPr algn="l">
              <a:spcBef>
                <a:spcPts val="900"/>
              </a:spcBef>
            </a:pPr>
            <a:r>
              <a:rPr sz="1650">
                <a:solidFill>
                  <a:srgbClr val="14120E"/>
                </a:solidFill>
              </a:rPr>
              <a:t>•  Gates whether coaching messages send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alendar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WEEKLY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Weekly Progress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lendar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20" y="1419120"/>
            <a:ext cx="293760" cy="2937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23600" y="1872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2000" y="1267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1.  Sunday, 09:00 UTC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2000" y="1591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Celery Beat triggers for every opted-in user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2196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rend-up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20" y="2355120"/>
            <a:ext cx="293760" cy="2937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23600" y="2808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2000" y="2203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2.  7-Day Feature Aggregation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2000" y="2527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Same engineering pipeline, scoped to the week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" y="3132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robot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20" y="3291120"/>
            <a:ext cx="293760" cy="29376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23600" y="3744000"/>
            <a:ext cx="288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2000" y="3139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3.  LLM Writes the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2000" y="3463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Assessment, wins, improvement areas, projection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000" y="4068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ell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120" y="4227120"/>
            <a:ext cx="293760" cy="2937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42000" y="4075200"/>
            <a:ext cx="4674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20E"/>
                </a:solidFill>
              </a:rPr>
              <a:t>4.  Delivered &amp; Saved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42000" y="4399200"/>
            <a:ext cx="467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 b="0">
                <a:solidFill>
                  <a:srgbClr val="666666"/>
                </a:solidFill>
              </a:rPr>
              <a:t>Push notification + a persisted coaching message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6059" y="1260000"/>
            <a:ext cx="5484059" cy="2664000"/>
          </a:xfrm>
          <a:prstGeom prst="roundRect">
            <a:avLst>
              <a:gd name="adj" fmla="val 7000"/>
            </a:avLst>
          </a:prstGeom>
          <a:solidFill>
            <a:srgbClr val="FFF7F2"/>
          </a:solidFill>
          <a:ln w="16510">
            <a:solidFill>
              <a:srgbClr val="FF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38059" y="1404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sigma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0539" y="1536479"/>
            <a:ext cx="149039" cy="14903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942059" y="1458000"/>
            <a:ext cx="4692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F6A1A"/>
                </a:solidFill>
              </a:rPr>
              <a:t>On-Track Formula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6059" y="1980000"/>
            <a:ext cx="5124059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>
                <a:solidFill>
                  <a:srgbClr val="14120E"/>
                </a:solidFill>
              </a:rPr>
              <a:t>•  Consistency = 40% calories + 40% frequency + 20% logging</a:t>
            </a:r>
          </a:p>
          <a:p>
            <a:pPr algn="l">
              <a:spcBef>
                <a:spcPts val="2200"/>
              </a:spcBef>
            </a:pPr>
            <a:r>
              <a:rPr sz="1650">
                <a:solidFill>
                  <a:srgbClr val="14120E"/>
                </a:solidFill>
              </a:rPr>
              <a:t>•  On track when consistency ≥ 65%</a:t>
            </a:r>
          </a:p>
          <a:p>
            <a:pPr algn="l">
              <a:spcBef>
                <a:spcPts val="2200"/>
              </a:spcBef>
            </a:pPr>
            <a:r>
              <a:rPr sz="1650">
                <a:solidFill>
                  <a:srgbClr val="14120E"/>
                </a:solidFill>
              </a:rPr>
              <a:t>•  ...and calorie adherence ≥ 75% too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76059" y="4068000"/>
            <a:ext cx="5484059" cy="1044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4059" y="4158000"/>
            <a:ext cx="5268059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FF6A1A"/>
                </a:solidFill>
              </a:rPr>
              <a:t>"Your Weekly Progress Report"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4059" y="4716000"/>
            <a:ext cx="526805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0">
                <a:solidFill>
                  <a:srgbClr val="666666"/>
                </a:solidFill>
              </a:rPr>
              <a:t>the actual push notification title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rench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" y="1260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000" y="1530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pu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600" y="1731600"/>
            <a:ext cx="226800" cy="226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49999" y="1483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9999" y="1818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Backend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6029" y="1260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62029" y="1530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atabas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3629" y="1731600"/>
            <a:ext cx="226800" cy="226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82028" y="1483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PostgreSQL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2028" y="1818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Primary 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8059" y="1260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94059" y="1530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ist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659" y="1731600"/>
            <a:ext cx="226800" cy="226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14058" y="1483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Redis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4058" y="1818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Cache &amp; Broker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0089" y="1260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26089" y="1530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activity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7689" y="1731600"/>
            <a:ext cx="226800" cy="226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846088" y="1483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Celery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46088" y="1818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Task Queue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4000" y="2682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0000" y="2952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hone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600" y="3153600"/>
            <a:ext cx="226800" cy="226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349999" y="2905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Flutter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49999" y="3240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Mobile app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36029" y="2682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462029" y="2952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bell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63629" y="3153600"/>
            <a:ext cx="226800" cy="226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182028" y="2905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Firebase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82028" y="3240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Push notifications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8059" y="2682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294059" y="2952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robot-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5659" y="3153600"/>
            <a:ext cx="226800" cy="2268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014058" y="2905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Qwen 235B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14058" y="3240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AI plan generation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00089" y="2682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126089" y="2952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amera-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7689" y="3153600"/>
            <a:ext cx="226800" cy="2268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846088" y="2905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Qwen2.5-VL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46088" y="3240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Meal vision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4000" y="4104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30000" y="4374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mic-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1600" y="4575600"/>
            <a:ext cx="226800" cy="2268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349999" y="4327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Whisper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49999" y="4662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Groq — voice-to-text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336029" y="4104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462029" y="4374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earch-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63629" y="4575600"/>
            <a:ext cx="226800" cy="2268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4182028" y="4327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ChromaDB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82028" y="4662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Vector database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68059" y="4104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294059" y="4374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cloud-whi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5659" y="4575600"/>
            <a:ext cx="226800" cy="2268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7014058" y="4327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Docker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14058" y="4662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Deployment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000089" y="4104000"/>
            <a:ext cx="2688029" cy="12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126089" y="4374000"/>
            <a:ext cx="630000" cy="63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layers-whi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27689" y="4575600"/>
            <a:ext cx="226800" cy="22680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9846088" y="4327200"/>
            <a:ext cx="178802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Next.js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46088" y="4662000"/>
            <a:ext cx="178802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Landing page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hield-chec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Testing &amp;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5448059" cy="37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60000"/>
            <a:ext cx="5448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000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rench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60" y="1560960"/>
            <a:ext cx="168480" cy="168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52000" y="1476000"/>
            <a:ext cx="458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API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000" y="1997999"/>
            <a:ext cx="5124059" cy="29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14120E"/>
                </a:solidFill>
              </a:rPr>
              <a:t>•  Postman suite covers every REST endpoint</a:t>
            </a:r>
          </a:p>
          <a:p>
            <a:pPr algn="l">
              <a:spcBef>
                <a:spcPts val="900"/>
              </a:spcBef>
            </a:pPr>
            <a:r>
              <a:rPr sz="1800">
                <a:solidFill>
                  <a:srgbClr val="14120E"/>
                </a:solidFill>
              </a:rPr>
              <a:t>•  Environment configs per deployment</a:t>
            </a:r>
          </a:p>
          <a:p>
            <a:pPr algn="l">
              <a:spcBef>
                <a:spcPts val="900"/>
              </a:spcBef>
            </a:pPr>
            <a:r>
              <a:rPr sz="1800">
                <a:solidFill>
                  <a:srgbClr val="14120E"/>
                </a:solidFill>
              </a:rPr>
              <a:t>•  Manual + semi-automated request suites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12059" y="1260000"/>
            <a:ext cx="5448059" cy="37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12059" y="1260000"/>
            <a:ext cx="5448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74059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ock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819" y="1560960"/>
            <a:ext cx="168480" cy="168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32059" y="1476000"/>
            <a:ext cx="4584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AI Output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4059" y="1997999"/>
            <a:ext cx="5124059" cy="29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14120E"/>
                </a:solidFill>
              </a:rPr>
              <a:t>•  Synthetic profiles — goals &amp; conditions</a:t>
            </a:r>
          </a:p>
          <a:p>
            <a:pPr algn="l">
              <a:spcBef>
                <a:spcPts val="900"/>
              </a:spcBef>
            </a:pPr>
            <a:r>
              <a:rPr sz="1800">
                <a:solidFill>
                  <a:srgbClr val="14120E"/>
                </a:solidFill>
              </a:rPr>
              <a:t>•  Rubric checks — allergen safety, fit</a:t>
            </a:r>
          </a:p>
          <a:p>
            <a:pPr algn="l">
              <a:spcBef>
                <a:spcPts val="900"/>
              </a:spcBef>
            </a:pPr>
            <a:r>
              <a:rPr sz="1800">
                <a:solidFill>
                  <a:srgbClr val="14120E"/>
                </a:solidFill>
              </a:rPr>
              <a:t>•  Every plan scored before it ships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5364000"/>
            <a:ext cx="11328119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No CI pipeline runs yet — API and AI-output checks are run manually ahead of each release.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80000"/>
            <a:ext cx="540000" cy="54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end-up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00" y="352800"/>
            <a:ext cx="194400" cy="19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2000" y="2232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30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4120E"/>
                </a:solidFill>
              </a:rPr>
              <a:t>Future 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98000"/>
            <a:ext cx="1116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60000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000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a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60" y="1560960"/>
            <a:ext cx="168480" cy="168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52000" y="1476000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AI Chatbot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000" y="1997999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Real-time Q&amp;A on your plan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Aware of your full health profile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60058" y="1260000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60058" y="1260000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22058" y="14112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hon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818" y="1560960"/>
            <a:ext cx="168480" cy="168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80058" y="1476000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Wearables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2058" y="1997999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Auto-synced Apple &amp; Galaxy Watch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Heart rate, steps &amp; sleep, live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" y="3897502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2000" y="3897502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4000" y="4048702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ayers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760" y="4198462"/>
            <a:ext cx="168480" cy="168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52000" y="4113502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Arabic &amp; RTL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000" y="4635501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Full Arabic UI with RTL layout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Localized MENA food database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60058" y="3897502"/>
            <a:ext cx="5376059" cy="23855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60058" y="3897502"/>
            <a:ext cx="5376059" cy="396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22058" y="4048702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users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1818" y="4198462"/>
            <a:ext cx="168480" cy="1684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80058" y="4113502"/>
            <a:ext cx="451205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14120E"/>
                </a:solidFill>
              </a:rPr>
              <a:t>Coach Marketplace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22058" y="4635501"/>
            <a:ext cx="5052059" cy="15755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>
                <a:solidFill>
                  <a:srgbClr val="14120E"/>
                </a:solidFill>
              </a:rPr>
              <a:t>•  Coaches manage real clients</a:t>
            </a:r>
          </a:p>
          <a:p>
            <a:pPr algn="l">
              <a:spcBef>
                <a:spcPts val="900"/>
              </a:spcBef>
            </a:pPr>
            <a:r>
              <a:rPr sz="1900">
                <a:solidFill>
                  <a:srgbClr val="14120E"/>
                </a:solidFill>
              </a:rPr>
              <a:t>•  Shared client progress dashboard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36120" y="576000"/>
            <a:ext cx="1007999" cy="1007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eck-circle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679" y="898559"/>
            <a:ext cx="362879" cy="3628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000" y="2052000"/>
            <a:ext cx="11040119" cy="15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0" b="1">
                <a:solidFill>
                  <a:srgbClr val="14120E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000" y="3564000"/>
            <a:ext cx="11040119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FF6A1A"/>
                </a:solidFill>
              </a:rPr>
              <a:t>Questions?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000" y="4194000"/>
            <a:ext cx="7200000" cy="252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000" y="4338000"/>
            <a:ext cx="1104011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666666"/>
                </a:solidFill>
              </a:rPr>
              <a:t>Mohamed Taha  ·  Medhat Ahmed  ·  Ahmed Saber  ·  Mohammed Gamal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" y="4644000"/>
            <a:ext cx="1104011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666666"/>
                </a:solidFill>
              </a:rPr>
              <a:t>Dr. Osama Ismail  ·  TA. Doaa Ghaleb  ·  Cairo University FCAI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