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5.png"/><Relationship Id="rId9" Type="http://schemas.openxmlformats.org/officeDocument/2006/relationships/image" Target="../media/image9.png"/><Relationship Id="rId10" Type="http://schemas.openxmlformats.org/officeDocument/2006/relationships/image" Target="../media/image8.png"/><Relationship Id="rId11" Type="http://schemas.openxmlformats.org/officeDocument/2006/relationships/image" Target="../media/image29.png"/><Relationship Id="rId12" Type="http://schemas.openxmlformats.org/officeDocument/2006/relationships/image" Target="../media/image18.png"/><Relationship Id="rId13" Type="http://schemas.openxmlformats.org/officeDocument/2006/relationships/image" Target="../media/image30.png"/><Relationship Id="rId1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0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0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404000"/>
            <a:ext cx="328404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160000"/>
            <a:ext cx="328404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quit within 2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2412000"/>
            <a:ext cx="328404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120E"/>
                </a:solidFill>
              </a:rPr>
              <a:t>Manual logging is too tedious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4039" y="1260000"/>
            <a:ext cx="3536039" cy="190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4039" y="1260000"/>
            <a:ext cx="39600" cy="190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8039" y="1404000"/>
            <a:ext cx="328404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039" y="2160000"/>
            <a:ext cx="328404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apps to track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039" y="2412000"/>
            <a:ext cx="328404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120E"/>
                </a:solidFill>
              </a:rPr>
              <a:t>No unified health picture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079" y="1260000"/>
            <a:ext cx="3536039" cy="190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079" y="1260000"/>
            <a:ext cx="39600" cy="190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0079" y="1404000"/>
            <a:ext cx="328404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0079" y="2160000"/>
            <a:ext cx="328404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apps adapt to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0079" y="2412000"/>
            <a:ext cx="328404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120E"/>
                </a:solidFill>
              </a:rPr>
              <a:t>Injuries &amp; meds ignored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38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387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02479"/>
            <a:ext cx="149039" cy="149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" y="394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Plans never adapt to your progress or lifestyle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450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463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57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Chronic conditions, injuries and allergies are ignored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513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479" y="526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520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Tracking apps show data — none turn it into daily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8927999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404000"/>
                <a:gridCol w="1620000"/>
                <a:gridCol w="1835999"/>
                <a:gridCol w="1332000"/>
              </a:tblGrid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Freeletics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MyFitnessPal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Noom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Health 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462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Freeletics is the closest competitor — AI workout and nutrition coaching.  Partial = feature exists but limited depth.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Nightly analysis of your data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 each morning, via push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Recalculated every night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Food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Query Comes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food or exercise lookup during plan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the food &amp; exercise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384-dim multilingual embeddings, cosine similarity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6A1A"/>
                </a:solidFill>
              </a:rPr>
              <a:t>8,789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foods indexed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6A1A"/>
                </a:solidFill>
              </a:rPr>
              <a:t>384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embedding dimensions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6A1A"/>
                </a:solidFill>
              </a:rPr>
              <a:t>2×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retrieval paths, fused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1835999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404000"/>
            <a:ext cx="241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286000"/>
            <a:ext cx="24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574000"/>
            <a:ext cx="241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7-day rolling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Calculated nightly via Celery Beat  ·  numpy polyfit for trend slopes  ·  macro balance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TDEE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124000"/>
            <a:ext cx="5220000" cy="23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14120E"/>
                </a:solidFill>
              </a:rPr>
              <a:t>•  BMR = 10×kg + 6.25×cm − 5×age</a:t>
            </a:r>
          </a:p>
          <a:p>
            <a:pPr algn="l">
              <a:spcBef>
                <a:spcPts val="2600"/>
              </a:spcBef>
            </a:pPr>
            <a:r>
              <a:rPr sz="2000">
                <a:solidFill>
                  <a:srgbClr val="14120E"/>
                </a:solidFill>
              </a:rPr>
              <a:t>•  (+5 for men,  −161 for women)</a:t>
            </a:r>
          </a:p>
          <a:p>
            <a:pPr algn="l">
              <a:spcBef>
                <a:spcPts val="2600"/>
              </a:spcBef>
            </a:pPr>
            <a:r>
              <a:rPr sz="2000">
                <a:solidFill>
                  <a:srgbClr val="14120E"/>
                </a:solidFill>
              </a:rPr>
              <a:t>•  Activity ×1.20 to ×1.90</a:t>
            </a:r>
          </a:p>
          <a:p>
            <a:pPr algn="l">
              <a:spcBef>
                <a:spcPts val="2600"/>
              </a:spcBef>
            </a:pPr>
            <a:r>
              <a:rPr sz="200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124000"/>
            <a:ext cx="5220000" cy="23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14120E"/>
                </a:solidFill>
              </a:rPr>
              <a:t>•  numpy polyfit → 7-day calorie trend</a:t>
            </a:r>
          </a:p>
          <a:p>
            <a:pPr algn="l">
              <a:spcBef>
                <a:spcPts val="2800"/>
              </a:spcBef>
            </a:pPr>
            <a:r>
              <a:rPr sz="2000">
                <a:solidFill>
                  <a:srgbClr val="14120E"/>
                </a:solidFill>
              </a:rPr>
              <a:t>•  Macro balance score (protein/carb/fat)</a:t>
            </a:r>
          </a:p>
          <a:p>
            <a:pPr algn="l">
              <a:spcBef>
                <a:spcPts val="2800"/>
              </a:spcBef>
            </a:pPr>
            <a:r>
              <a:rPr sz="2000">
                <a:solidFill>
                  <a:srgbClr val="14120E"/>
                </a:solidFill>
              </a:rPr>
              <a:t>•  Workout frequency vs. weekly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2700000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04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324800"/>
            <a:ext cx="2448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6A1A"/>
                </a:solidFill>
              </a:rPr>
              <a:t>48+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818000"/>
            <a:ext cx="244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unit &amp; integration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0" y="1260000"/>
            <a:ext cx="2700000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0" y="1260000"/>
            <a:ext cx="39600" cy="104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4000" y="1324800"/>
            <a:ext cx="2448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6A1A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000" y="1818000"/>
            <a:ext cx="244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core module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8000" y="1260000"/>
            <a:ext cx="2700000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000" y="1260000"/>
            <a:ext cx="39600" cy="104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2000" y="1324800"/>
            <a:ext cx="2448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6A1A"/>
                </a:solidFill>
              </a:rP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0" y="1818000"/>
            <a:ext cx="244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AI plans reviewed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6000" y="1260000"/>
            <a:ext cx="2700000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56000" y="1260000"/>
            <a:ext cx="39600" cy="104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1324800"/>
            <a:ext cx="2448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6A1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0" y="1818000"/>
            <a:ext cx="244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platforms on-device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2484000"/>
            <a:ext cx="5448059" cy="289180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2484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000" y="2635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2784960"/>
            <a:ext cx="168480" cy="168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52000" y="2700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Test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000" y="3221999"/>
            <a:ext cx="5124059" cy="20818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14120E"/>
                </a:solidFill>
              </a:rPr>
              <a:t>•  Unit tests — auth, tracking, planning</a:t>
            </a:r>
          </a:p>
          <a:p>
            <a:pPr algn="l">
              <a:spcBef>
                <a:spcPts val="900"/>
              </a:spcBef>
            </a:pPr>
            <a:r>
              <a:rPr sz="1700">
                <a:solidFill>
                  <a:srgbClr val="14120E"/>
                </a:solidFill>
              </a:rPr>
              <a:t>•  Integration — FastAPI TestClient + DB</a:t>
            </a:r>
          </a:p>
          <a:p>
            <a:pPr algn="l">
              <a:spcBef>
                <a:spcPts val="900"/>
              </a:spcBef>
            </a:pPr>
            <a:r>
              <a:rPr sz="1700">
                <a:solidFill>
                  <a:srgbClr val="14120E"/>
                </a:solidFill>
              </a:rPr>
              <a:t>•  E2E — full flow on real devices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2059" y="2484000"/>
            <a:ext cx="5448059" cy="289180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2059" y="2484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4059" y="2635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819" y="2784960"/>
            <a:ext cx="168480" cy="168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32059" y="2700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AI Plan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4059" y="3221999"/>
            <a:ext cx="5124059" cy="20818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14120E"/>
                </a:solidFill>
              </a:rPr>
              <a:t>•  Macros within ±5% of TDEE targets</a:t>
            </a:r>
          </a:p>
          <a:p>
            <a:pPr algn="l">
              <a:spcBef>
                <a:spcPts val="900"/>
              </a:spcBef>
            </a:pPr>
            <a:r>
              <a:rPr sz="1700">
                <a:solidFill>
                  <a:srgbClr val="14120E"/>
                </a:solidFill>
              </a:rPr>
              <a:t>•  100% deterministic allergy removal</a:t>
            </a:r>
          </a:p>
          <a:p>
            <a:pPr algn="l">
              <a:spcBef>
                <a:spcPts val="900"/>
              </a:spcBef>
            </a:pPr>
            <a:r>
              <a:rPr sz="1700">
                <a:solidFill>
                  <a:srgbClr val="14120E"/>
                </a:solidFill>
              </a:rPr>
              <a:t>•  Hand-checked: diabetic, injury, asthma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Full Arabic UI with RTL layout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Localized MENA food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