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4"/>
    <p:sldId id="291" r:id="rId18"/>
    <p:sldId id="258" r:id="rId5"/>
    <p:sldId id="260" r:id="rId6"/>
    <p:sldId id="263" r:id="rId9"/>
    <p:sldId id="264" r:id="rId10"/>
    <p:sldId id="267" r:id="rId13"/>
    <p:sldId id="284" r:id="rId16"/>
    <p:sldId id="286" r:id="rId19"/>
    <p:sldId id="288" r:id="rId20"/>
    <p:sldId id="269" r:id="rId21"/>
    <p:sldId id="270" r:id="rId22"/>
    <p:sldId id="290" r:id="rId23"/>
    <p:sldId id="268" r:id="rId24"/>
    <p:sldId id="271" r:id="rId25"/>
    <p:sldId id="272" r:id="rId26"/>
    <p:sldId id="273" r:id="rId27"/>
    <p:sldId id="274" r:id="rId28"/>
    <p:sldId id="27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3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20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777599" cy="10079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900" y="359999"/>
            <a:ext cx="1236479" cy="1007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48273" y="6409249"/>
            <a:ext cx="78874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78726B"/>
                </a:solidFill>
                <a:latin typeface="Sora"/>
              </a:rPr>
              <a:t>Cairo University  |  Faculty of Computers and Artificial Intelligence</a:t>
            </a:r>
            <a:r>
              <a:rPr lang="en-US" sz="1200" b="0" dirty="0">
                <a:solidFill>
                  <a:srgbClr val="78726B"/>
                </a:solidFill>
                <a:latin typeface="Sora"/>
              </a:rPr>
              <a:t> | Information System Department</a:t>
            </a:r>
            <a:endParaRPr sz="1200" b="0" dirty="0">
              <a:solidFill>
                <a:srgbClr val="78726B"/>
              </a:solidFill>
              <a:latin typeface="Sora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00" y="1410400"/>
            <a:ext cx="1980000" cy="19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9299" y="1704550"/>
            <a:ext cx="4852151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dirty="0" err="1">
                <a:solidFill>
                  <a:srgbClr val="FF6A1A"/>
                </a:solidFill>
                <a:latin typeface="Sora"/>
              </a:rPr>
              <a:t>FitMind</a:t>
            </a:r>
            <a:endParaRPr sz="8800" b="1" dirty="0">
              <a:solidFill>
                <a:srgbClr val="FF6A1A"/>
              </a:solidFill>
              <a:latin typeface="Sor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51999" y="2951999"/>
            <a:ext cx="57475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141210"/>
                </a:solidFill>
                <a:latin typeface="Sora"/>
              </a:rPr>
              <a:t>AI-Powered Personalized
Fitness and Nutrition Companion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1999" y="3996000"/>
            <a:ext cx="6480000" cy="25200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77724" y="4122625"/>
            <a:ext cx="703655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78726B"/>
                </a:solidFill>
                <a:latin typeface="Inter"/>
              </a:rPr>
              <a:t>Mohamed Taha   |   Medhat Ahmed   |   Ahmed Saber   |   Mohammed Gamal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1999" y="4428000"/>
            <a:ext cx="586815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78726B"/>
                </a:solidFill>
                <a:latin typeface="Inter"/>
              </a:rPr>
              <a:t>Supervised by: Dr. Osama Ismail  |  TA. Doaa Ghaleb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201270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000" y="30790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6A1A"/>
                </a:solidFill>
                <a:latin typeface="Sora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The Fitness App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40000" y="1699200"/>
            <a:ext cx="187200" cy="187200"/>
          </a:xfrm>
          <a:prstGeom prst="ellipse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6000" y="1612800"/>
            <a:ext cx="46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  <a:latin typeface="Sora"/>
              </a:rPr>
              <a:t>Generic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000" y="1890000"/>
            <a:ext cx="10680119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210"/>
                </a:solidFill>
                <a:latin typeface="Inter"/>
              </a:rPr>
              <a:t>Every user gets the same program regardless of injuries or conditions. Generic plans can cause real harm.</a:t>
            </a:r>
          </a:p>
        </p:txBody>
      </p:sp>
      <p:sp>
        <p:nvSpPr>
          <p:cNvPr id="12" name="Oval 11"/>
          <p:cNvSpPr/>
          <p:nvPr/>
        </p:nvSpPr>
        <p:spPr>
          <a:xfrm>
            <a:off x="540000" y="2725200"/>
            <a:ext cx="187200" cy="187200"/>
          </a:xfrm>
          <a:prstGeom prst="ellipse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6000" y="2638800"/>
            <a:ext cx="46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  <a:latin typeface="Sora"/>
              </a:rPr>
              <a:t>Painful Manual Logging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000" y="2916000"/>
            <a:ext cx="10680119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210"/>
                </a:solidFill>
                <a:latin typeface="Inter"/>
              </a:rPr>
              <a:t>Typing every meal and every rep is tedious. Over 80% of users quit within the first two weeks.</a:t>
            </a:r>
          </a:p>
        </p:txBody>
      </p:sp>
      <p:sp>
        <p:nvSpPr>
          <p:cNvPr id="15" name="Oval 14"/>
          <p:cNvSpPr/>
          <p:nvPr/>
        </p:nvSpPr>
        <p:spPr>
          <a:xfrm>
            <a:off x="540000" y="3751200"/>
            <a:ext cx="187200" cy="187200"/>
          </a:xfrm>
          <a:prstGeom prst="ellipse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6000" y="3664800"/>
            <a:ext cx="46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  <a:latin typeface="Sora"/>
              </a:rPr>
              <a:t>Plans That Never Adapt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000" y="3942000"/>
            <a:ext cx="10680119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210"/>
                </a:solidFill>
                <a:latin typeface="Inter"/>
              </a:rPr>
              <a:t>A plan from day one stays unchanged on day ninety. No response to progress, plateaus, or lifestyle changes.</a:t>
            </a:r>
          </a:p>
        </p:txBody>
      </p:sp>
      <p:sp>
        <p:nvSpPr>
          <p:cNvPr id="18" name="Oval 17"/>
          <p:cNvSpPr/>
          <p:nvPr/>
        </p:nvSpPr>
        <p:spPr>
          <a:xfrm>
            <a:off x="540000" y="4777200"/>
            <a:ext cx="187200" cy="187200"/>
          </a:xfrm>
          <a:prstGeom prst="ellipse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6000" y="4690800"/>
            <a:ext cx="46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  <a:latin typeface="Sora"/>
              </a:rPr>
              <a:t>No Coaching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000" y="4968000"/>
            <a:ext cx="10680119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210"/>
                </a:solidFill>
                <a:latin typeface="Inter"/>
              </a:rPr>
              <a:t>No mainstream app analyzes your complete daily data and gives you one clear, personalized recommendation.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540000" y="5803200"/>
            <a:ext cx="187200" cy="187200"/>
          </a:xfrm>
          <a:prstGeom prst="ellipse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6000" y="5716800"/>
            <a:ext cx="46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  <a:latin typeface="Sora"/>
              </a:rPr>
              <a:t>Five Apps, No Unified Picture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000" y="5994000"/>
            <a:ext cx="10680119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210"/>
                </a:solidFill>
                <a:latin typeface="Inter"/>
              </a:rPr>
              <a:t>The average health-conscious user runs five separate apps with no cross-domain insight and no single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129515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000" y="307900"/>
            <a:ext cx="114165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6A1A"/>
                </a:solidFill>
                <a:latin typeface="Sora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Project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0000" y="1512000"/>
            <a:ext cx="5322059" cy="1674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0000" y="1512000"/>
            <a:ext cx="5322059" cy="79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000" y="1663200"/>
            <a:ext cx="5034059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  <a:latin typeface="Sora"/>
              </a:rPr>
              <a:t>Personalized AI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1998000"/>
            <a:ext cx="5034059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41210"/>
                </a:solidFill>
                <a:latin typeface="Inter"/>
              </a:rPr>
              <a:t>Generate unique weekly workouts and daily nutrition plans tailored to each user's goals, body metrics, and medical profile.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0059" y="1512000"/>
            <a:ext cx="5322059" cy="1674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50059" y="1512000"/>
            <a:ext cx="5322059" cy="79200"/>
          </a:xfrm>
          <a:prstGeom prst="rect">
            <a:avLst/>
          </a:prstGeom>
          <a:solidFill>
            <a:srgbClr val="3B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4059" y="1663200"/>
            <a:ext cx="5034059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B6FED"/>
                </a:solidFill>
                <a:latin typeface="Sora"/>
              </a:rPr>
              <a:t>Multimodal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4059" y="1998000"/>
            <a:ext cx="5034059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210"/>
                </a:solidFill>
                <a:latin typeface="Inter"/>
              </a:rPr>
              <a:t>Let users log meals and workouts by text, camera scan, or voice to eliminate manual friction and keep daily tracking realistic.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3276000"/>
            <a:ext cx="5322059" cy="1674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0000" y="3276000"/>
            <a:ext cx="5322059" cy="79200"/>
          </a:xfrm>
          <a:prstGeom prst="rect">
            <a:avLst/>
          </a:prstGeom>
          <a:solidFill>
            <a:srgbClr val="4A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4000" y="3427200"/>
            <a:ext cx="5034059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7C1F"/>
                </a:solidFill>
                <a:latin typeface="Sora"/>
              </a:rPr>
              <a:t>Automated Daily Coaching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" y="3762000"/>
            <a:ext cx="5034059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210"/>
                </a:solidFill>
                <a:latin typeface="Inter"/>
              </a:rPr>
              <a:t>A nightly Celery job reads each user's real logged data and delivers a personalized coaching message as a push notification every morning.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0059" y="3276000"/>
            <a:ext cx="5322059" cy="1674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50059" y="3276000"/>
            <a:ext cx="5322059" cy="7920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94059" y="3427200"/>
            <a:ext cx="5034059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8A47"/>
                </a:solidFill>
                <a:latin typeface="Sora"/>
              </a:rPr>
              <a:t>Full-Stack Production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4059" y="3762000"/>
            <a:ext cx="5034059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210"/>
                </a:solidFill>
                <a:latin typeface="Inter"/>
              </a:rPr>
              <a:t>Deliver a complete containerized system: Flutter app, FastAPI, PostgreSQL, ChromaDB, Redis, Celery, Firebase FCM, and a Next.js landing page.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000" y="5040000"/>
            <a:ext cx="5322059" cy="1566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0000" y="5040000"/>
            <a:ext cx="5322059" cy="79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4000" y="5191200"/>
            <a:ext cx="5034059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Sora"/>
              </a:rPr>
              <a:t>Safety-Aware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000" y="5526000"/>
            <a:ext cx="5034059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210"/>
                </a:solidFill>
                <a:latin typeface="Inter"/>
              </a:rPr>
              <a:t>Embed medical conditions, injuries, and allergies into every AI call so that every recommendation is safe and condition-specific, not generic.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0059" y="5040000"/>
            <a:ext cx="5322059" cy="1566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50059" y="5040000"/>
            <a:ext cx="5322059" cy="79200"/>
          </a:xfrm>
          <a:prstGeom prst="rect">
            <a:avLst/>
          </a:prstGeom>
          <a:solidFill>
            <a:srgbClr val="787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4059" y="5191200"/>
            <a:ext cx="5034059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8726B"/>
                </a:solidFill>
                <a:latin typeface="Sora"/>
              </a:rPr>
              <a:t>Bilingual EN and 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4059" y="5526000"/>
            <a:ext cx="5034059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210"/>
                </a:solidFill>
                <a:latin typeface="Inter"/>
              </a:rPr>
              <a:t>Full Arabic RTL interface, Arabic coaching messages, and a localized food database covering Egyptian and MENA cuisine - built in from day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108560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2700" y="307900"/>
            <a:ext cx="99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6A1A"/>
                </a:solidFill>
                <a:latin typeface="Sora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Introducing FitMind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1475999"/>
            <a:ext cx="1111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78726B"/>
                </a:solidFill>
                <a:latin typeface="Inter"/>
              </a:rPr>
              <a:t>FitMind is an AI fitness companion that gets to know you, builds a plan made specifically for your health profile, and coaches you every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2160000"/>
            <a:ext cx="5322059" cy="2124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5999" y="2285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4000" y="2455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  <a:latin typeface="Sora"/>
              </a:rPr>
              <a:t>Deep 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800" y="2826000"/>
            <a:ext cx="53220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Starts with a full health onboarding before any plan is created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Captures your goals, body, injuries, allergies, and conditions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Your profile shapes every AI-generated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0059" y="2160000"/>
            <a:ext cx="5322059" cy="2124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76058" y="2285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3B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4059" y="2455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B6FED"/>
                </a:solidFill>
                <a:latin typeface="Sora"/>
              </a:rPr>
              <a:t>Multimodal 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4059" y="2826000"/>
            <a:ext cx="5034059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Log meals by photographing your plate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Log food and workouts by speaking naturally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Manual text entry always available as a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4392000"/>
            <a:ext cx="5322059" cy="2124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5999" y="451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4A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4000" y="4687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A7C1F"/>
                </a:solidFill>
                <a:latin typeface="Sora"/>
              </a:rPr>
              <a:t>Daily AI Coaching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000" y="5058000"/>
            <a:ext cx="5034059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Every morning you receive a personal coaching message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Generated from your previous day's real logged activity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Keeps you motivated, accountable, and on track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0059" y="4392000"/>
            <a:ext cx="5322059" cy="2124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76058" y="451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4059" y="4687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8A47"/>
                </a:solidFill>
                <a:latin typeface="Sora"/>
              </a:rPr>
              <a:t>Unified FitMind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4059" y="5058000"/>
            <a:ext cx="5034059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A single score reflecting your overall health progress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Combines nutrition, workouts, hydration, and sleep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Visualized as a radar chart with trend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104115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7300" y="314250"/>
            <a:ext cx="95115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6A1A"/>
                </a:solidFill>
                <a:latin typeface="Sora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>
                <a:solidFill>
                  <a:srgbClr val="141210"/>
                </a:solidFill>
                <a:latin typeface="Sora"/>
              </a:rPr>
              <a:t>Stakeholders</a:t>
            </a:r>
            <a:endParaRPr sz="4000" b="1" dirty="0">
              <a:solidFill>
                <a:srgbClr val="141210"/>
              </a:solidFill>
              <a:latin typeface="Sor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0000" y="1512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5999" y="163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000" y="1807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  <a:latin typeface="Sora"/>
              </a:rPr>
              <a:t>Fitness Beginners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178000"/>
            <a:ext cx="5034059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No idea where to start with exercise or food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Need complete guidance from the very first day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FitMind builds the entire personalized plan for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0059" y="1512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76058" y="163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3B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4059" y="1807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B6FED"/>
                </a:solidFill>
                <a:latin typeface="Sora"/>
              </a:rPr>
              <a:t>Users with Health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4059" y="2178000"/>
            <a:ext cx="5034059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Injuries, diabetes, asthma, or ongoing medications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Generic apps give unsafe or irrelevant recommendations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FitMind injects safety rules into every AI 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4068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5999" y="4193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4A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4000" y="4363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A7C1F"/>
                </a:solidFill>
                <a:latin typeface="Sora"/>
              </a:rPr>
              <a:t>Busy Professionals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" y="4734000"/>
            <a:ext cx="5034059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Very limited time to track health consistently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Camera and voice remove all manual data entry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A five-minute daily check-in keeps them on track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0059" y="4068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76058" y="4193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94059" y="4363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C3AED"/>
                </a:solidFill>
                <a:latin typeface="Sora"/>
              </a:rPr>
              <a:t>Arabic-Speaking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4059" y="4734000"/>
            <a:ext cx="5034059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Underserved by English-only apps with Western food data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Full Arabic RTL interface and Arabic coaching messages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Localized food data for Egyptian and MENA cuisine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158090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7300" y="307900"/>
            <a:ext cx="14909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6A1A"/>
                </a:solidFill>
                <a:latin typeface="Sora"/>
              </a:rPr>
              <a:t>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438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141210"/>
                </a:solidFill>
                <a:latin typeface="Sora"/>
              </a:rPr>
              <a:t>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3151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Graphic 1">
            <a:extLst>
              <a:ext uri="{FF2B5EF4-FFF2-40B4-BE49-F238E27FC236}">
                <a16:creationId xmlns:a16="http://schemas.microsoft.com/office/drawing/2014/main" id="{3A4D350C-46AB-5472-A772-289F88A0C1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91620" y="1261079"/>
            <a:ext cx="8976330" cy="59516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234000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000" y="29520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  <a:latin typeface="Sora"/>
              </a:rPr>
              <a:t>AI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AI Services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0000" y="1512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5999" y="1648800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000" y="18180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  <a:latin typeface="Sora"/>
              </a:rPr>
              <a:t>Plan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00" y="2206700"/>
            <a:ext cx="5034059" cy="14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Full health profile injected into every system prompt</a:t>
            </a:r>
          </a:p>
          <a:p>
            <a:pPr algn="l">
              <a:spcBef>
                <a:spcPts val="900"/>
              </a:spcBef>
            </a:pPr>
            <a:r>
              <a:rPr sz="1500" dirty="0" err="1">
                <a:solidFill>
                  <a:srgbClr val="141210"/>
                </a:solidFill>
                <a:latin typeface="Inter"/>
              </a:rPr>
              <a:t>ChromaDB</a:t>
            </a:r>
            <a:r>
              <a:rPr sz="1500" dirty="0">
                <a:solidFill>
                  <a:srgbClr val="141210"/>
                </a:solidFill>
                <a:latin typeface="Inter"/>
              </a:rPr>
              <a:t> retrieves evidence-based fitness and nutrition context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Returns validated JSON: weekly workouts and daily macros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0059" y="1512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76058" y="1648800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4A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4059" y="18180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A7C1F"/>
                </a:solidFill>
                <a:latin typeface="Sora"/>
              </a:rPr>
              <a:t>Meal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6759" y="2206700"/>
            <a:ext cx="5034059" cy="14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User photographs a meal in the Flutter app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Model identifies foods and estimates calories and all macros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Values are editable before saving to the meal 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4068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5999" y="4204800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3B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4000" y="43740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B6FED"/>
                </a:solidFill>
                <a:latin typeface="Sora"/>
              </a:rPr>
              <a:t>Voice 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00" y="4762700"/>
            <a:ext cx="5034059" cy="14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User speaks naturally about food or exercise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Whisper transcribes; LLM extracts the structured data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Entry shown to user for confirmation before saving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0059" y="4068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76058" y="4204800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94059" y="43740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8A47"/>
                </a:solidFill>
                <a:latin typeface="Sora"/>
              </a:rPr>
              <a:t>Daily Coaching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6759" y="4762700"/>
            <a:ext cx="5034059" cy="14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Nightly job aggregates each user's full day of activity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LLM writes a unique, data-grounded coaching message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Delivered as a push notification every morning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8FDF5-CCCB-A4C6-1B2D-BB1C02C4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513F7D-6812-3487-44AB-B15733E54C0E}"/>
              </a:ext>
            </a:extLst>
          </p:cNvPr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112440-B9CE-54F8-420E-DCA7AD190649}"/>
              </a:ext>
            </a:extLst>
          </p:cNvPr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D5CE3A-1A7F-29F0-85B2-FED44EC17C6A}"/>
              </a:ext>
            </a:extLst>
          </p:cNvPr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93E24D-0A85-9D79-74BA-6E689C79692A}"/>
              </a:ext>
            </a:extLst>
          </p:cNvPr>
          <p:cNvSpPr/>
          <p:nvPr/>
        </p:nvSpPr>
        <p:spPr>
          <a:xfrm>
            <a:off x="540000" y="306000"/>
            <a:ext cx="166345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B977B-E888-4128-C416-F8ED8A9D6D72}"/>
              </a:ext>
            </a:extLst>
          </p:cNvPr>
          <p:cNvSpPr txBox="1"/>
          <p:nvPr/>
        </p:nvSpPr>
        <p:spPr>
          <a:xfrm>
            <a:off x="630000" y="29520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  <a:latin typeface="Sora"/>
              </a:rPr>
              <a:t>System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2A2C8-4BC7-1A45-4C9F-9CF9B8DDFF2C}"/>
              </a:ext>
            </a:extLst>
          </p:cNvPr>
          <p:cNvSpPr txBox="1"/>
          <p:nvPr/>
        </p:nvSpPr>
        <p:spPr>
          <a:xfrm>
            <a:off x="540000" y="720000"/>
            <a:ext cx="111121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>
                <a:solidFill>
                  <a:srgbClr val="141210"/>
                </a:solidFill>
                <a:latin typeface="Sora"/>
              </a:rPr>
              <a:t>Plan Evaluation</a:t>
            </a:r>
            <a:endParaRPr sz="4000" b="1" dirty="0">
              <a:solidFill>
                <a:srgbClr val="141210"/>
              </a:solidFill>
              <a:latin typeface="Sor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FE6099-92CD-250A-334D-A3FAA591BCC3}"/>
              </a:ext>
            </a:extLst>
          </p:cNvPr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221C1A-A178-4F30-882D-F5F64C17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3287"/>
            <a:ext cx="12192000" cy="332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91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7465F-8CE6-33CC-8C88-6D6C4A02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5AF8AE-EF4E-27CC-DAEF-C8C4E6EFB878}"/>
              </a:ext>
            </a:extLst>
          </p:cNvPr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FE182-FA7F-0D5F-C232-72FB79C7D536}"/>
              </a:ext>
            </a:extLst>
          </p:cNvPr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09A5E2-19F4-3C6F-F179-70BF8612A099}"/>
              </a:ext>
            </a:extLst>
          </p:cNvPr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AEA4E8-5BD3-7C7C-790D-76B5A507B15A}"/>
              </a:ext>
            </a:extLst>
          </p:cNvPr>
          <p:cNvSpPr/>
          <p:nvPr/>
        </p:nvSpPr>
        <p:spPr>
          <a:xfrm>
            <a:off x="540000" y="306000"/>
            <a:ext cx="166345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FF568-C4FE-3B29-997B-E99D7956E6F1}"/>
              </a:ext>
            </a:extLst>
          </p:cNvPr>
          <p:cNvSpPr txBox="1"/>
          <p:nvPr/>
        </p:nvSpPr>
        <p:spPr>
          <a:xfrm>
            <a:off x="630000" y="29520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  <a:latin typeface="Sora"/>
              </a:rPr>
              <a:t>System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4D92E-314A-06F1-ED85-15F31BC4449E}"/>
              </a:ext>
            </a:extLst>
          </p:cNvPr>
          <p:cNvSpPr txBox="1"/>
          <p:nvPr/>
        </p:nvSpPr>
        <p:spPr>
          <a:xfrm>
            <a:off x="540001" y="720000"/>
            <a:ext cx="34287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>
                <a:solidFill>
                  <a:srgbClr val="141210"/>
                </a:solidFill>
                <a:latin typeface="Sora"/>
              </a:rPr>
              <a:t>AI Coaching</a:t>
            </a:r>
            <a:endParaRPr sz="4000" b="1" dirty="0">
              <a:solidFill>
                <a:srgbClr val="141210"/>
              </a:solidFill>
              <a:latin typeface="Sor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F8D8EE-8393-9AE5-BEEF-B76500AFBFDC}"/>
              </a:ext>
            </a:extLst>
          </p:cNvPr>
          <p:cNvSpPr/>
          <p:nvPr/>
        </p:nvSpPr>
        <p:spPr>
          <a:xfrm>
            <a:off x="540001" y="1661033"/>
            <a:ext cx="5651250" cy="45719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AFEE7D-F0A2-5A31-D5E1-14D4C4947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286" y="0"/>
            <a:ext cx="5028457" cy="6676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37DFAF-FDF2-C341-48E9-E7C0B6ED02D0}"/>
              </a:ext>
            </a:extLst>
          </p:cNvPr>
          <p:cNvSpPr txBox="1"/>
          <p:nvPr/>
        </p:nvSpPr>
        <p:spPr>
          <a:xfrm>
            <a:off x="540001" y="1280270"/>
            <a:ext cx="3428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141210"/>
                </a:solidFill>
                <a:latin typeface="Sora"/>
              </a:rPr>
              <a:t>Feature Engineering</a:t>
            </a:r>
            <a:endParaRPr dirty="0">
              <a:solidFill>
                <a:srgbClr val="141210"/>
              </a:solidFill>
              <a:latin typeface="Sora"/>
            </a:endParaRPr>
          </a:p>
        </p:txBody>
      </p:sp>
    </p:spTree>
    <p:extLst>
      <p:ext uri="{BB962C8B-B14F-4D97-AF65-F5344CB8AC3E}">
        <p14:creationId xmlns:p14="http://schemas.microsoft.com/office/powerpoint/2010/main" val="4254380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8531-E2E1-DAEE-0DB9-5C3E16B9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808FE7-083E-17DE-CFFE-EA1475D12CF4}"/>
              </a:ext>
            </a:extLst>
          </p:cNvPr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A4F057-051F-5412-D035-D43914BF8F4A}"/>
              </a:ext>
            </a:extLst>
          </p:cNvPr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815604-5657-1C74-8BCE-11769A7F4CDC}"/>
              </a:ext>
            </a:extLst>
          </p:cNvPr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D57E6E4-F985-798C-4199-A4E86D8BA900}"/>
              </a:ext>
            </a:extLst>
          </p:cNvPr>
          <p:cNvSpPr/>
          <p:nvPr/>
        </p:nvSpPr>
        <p:spPr>
          <a:xfrm>
            <a:off x="540000" y="306000"/>
            <a:ext cx="166345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3B7D08-3A21-30D3-C61E-B50F999F314E}"/>
              </a:ext>
            </a:extLst>
          </p:cNvPr>
          <p:cNvSpPr txBox="1"/>
          <p:nvPr/>
        </p:nvSpPr>
        <p:spPr>
          <a:xfrm>
            <a:off x="630000" y="29520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  <a:latin typeface="Sora"/>
              </a:rPr>
              <a:t>System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001135-6030-B5C7-CAF6-B777236447D6}"/>
              </a:ext>
            </a:extLst>
          </p:cNvPr>
          <p:cNvSpPr txBox="1"/>
          <p:nvPr/>
        </p:nvSpPr>
        <p:spPr>
          <a:xfrm>
            <a:off x="540000" y="720000"/>
            <a:ext cx="111121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 err="1">
                <a:solidFill>
                  <a:srgbClr val="141210"/>
                </a:solidFill>
                <a:latin typeface="Sora"/>
              </a:rPr>
              <a:t>FitMind</a:t>
            </a:r>
            <a:r>
              <a:rPr lang="en-US" sz="4000" b="1" dirty="0">
                <a:solidFill>
                  <a:srgbClr val="141210"/>
                </a:solidFill>
                <a:latin typeface="Sora"/>
              </a:rPr>
              <a:t> Score</a:t>
            </a:r>
            <a:endParaRPr sz="4000" b="1" dirty="0">
              <a:solidFill>
                <a:srgbClr val="141210"/>
              </a:solidFill>
              <a:latin typeface="Sor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3D66B5-818B-2F81-AC5A-5EC35368E23A}"/>
              </a:ext>
            </a:extLst>
          </p:cNvPr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EA46C0-B304-8F63-174F-EC8D796B3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9380"/>
            <a:ext cx="12192000" cy="494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461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147295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0950" y="30155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  <a:latin typeface="Sora"/>
              </a:rPr>
              <a:t>Landing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FitMind Landing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40000" y="1699200"/>
            <a:ext cx="172800" cy="172800"/>
          </a:xfrm>
          <a:prstGeom prst="ellipse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999" y="1602000"/>
            <a:ext cx="504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210"/>
                </a:solidFill>
                <a:latin typeface="Sora"/>
              </a:rPr>
              <a:t>Hero and Feature 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999" y="1890000"/>
            <a:ext cx="504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8726B"/>
                </a:solidFill>
                <a:latin typeface="Inter"/>
              </a:rPr>
              <a:t>Live stats: 100K+ exercises and 8.7K+ foods recognized. Six feature cards with full EN/AR bilingual copy.</a:t>
            </a:r>
          </a:p>
        </p:txBody>
      </p:sp>
      <p:sp>
        <p:nvSpPr>
          <p:cNvPr id="12" name="Oval 11"/>
          <p:cNvSpPr/>
          <p:nvPr/>
        </p:nvSpPr>
        <p:spPr>
          <a:xfrm>
            <a:off x="540000" y="2851200"/>
            <a:ext cx="172800" cy="172800"/>
          </a:xfrm>
          <a:prstGeom prst="ellipse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999" y="2754000"/>
            <a:ext cx="504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210"/>
                </a:solidFill>
                <a:latin typeface="Sora"/>
              </a:rPr>
              <a:t>How It Works and CTA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042000"/>
            <a:ext cx="504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8726B"/>
                </a:solidFill>
                <a:latin typeface="Inter"/>
              </a:rPr>
              <a:t>Four-step explainer from health assessment to plan. A call-to-action drives sign-ups in under two minutes.</a:t>
            </a:r>
          </a:p>
        </p:txBody>
      </p:sp>
      <p:sp>
        <p:nvSpPr>
          <p:cNvPr id="15" name="Oval 14"/>
          <p:cNvSpPr/>
          <p:nvPr/>
        </p:nvSpPr>
        <p:spPr>
          <a:xfrm>
            <a:off x="540000" y="4003200"/>
            <a:ext cx="172800" cy="172800"/>
          </a:xfrm>
          <a:prstGeom prst="ellipse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999" y="3906000"/>
            <a:ext cx="504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210"/>
                </a:solidFill>
                <a:latin typeface="Sora"/>
              </a:rPr>
              <a:t>Bilingual EN / 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999" y="4194000"/>
            <a:ext cx="504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8726B"/>
                </a:solidFill>
                <a:latin typeface="Inter"/>
              </a:rPr>
              <a:t>A LanguageSwitcher toggles the full UI to Arabic RTL at runtime. All sections, headings, and labels are fully translated.</a:t>
            </a:r>
          </a:p>
        </p:txBody>
      </p:sp>
      <p:sp>
        <p:nvSpPr>
          <p:cNvPr id="18" name="Oval 17"/>
          <p:cNvSpPr/>
          <p:nvPr/>
        </p:nvSpPr>
        <p:spPr>
          <a:xfrm>
            <a:off x="540000" y="5155200"/>
            <a:ext cx="172800" cy="172800"/>
          </a:xfrm>
          <a:prstGeom prst="ellipse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999" y="5058000"/>
            <a:ext cx="504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210"/>
                </a:solidFill>
                <a:latin typeface="Sora"/>
              </a:rPr>
              <a:t>Interactive Demo 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999" y="5346000"/>
            <a:ext cx="504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8726B"/>
                </a:solidFill>
                <a:latin typeface="Inter"/>
              </a:rPr>
              <a:t>Users complete the health assessment and get a real AI-generated plan right in the browser - the same pipeline as the mobile app.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2000" y="1548000"/>
            <a:ext cx="546011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210"/>
                </a:solidFill>
                <a:latin typeface="Sora"/>
              </a:rPr>
              <a:t>3-Model AI Comparison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2000" y="1872000"/>
            <a:ext cx="5460119" cy="21600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2000" y="1925999"/>
            <a:ext cx="5460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26B"/>
                </a:solidFill>
                <a:latin typeface="Inter"/>
              </a:rPr>
              <a:t>The demo generates the same plan from three AI models in parallel. Users compare side by side, pick their favourite, and rate each plan on four dimensions: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2646000"/>
            <a:ext cx="5460119" cy="882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2000" y="2646000"/>
            <a:ext cx="5460119" cy="648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7999" y="2761200"/>
            <a:ext cx="520812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  <a:latin typeface="Sora"/>
              </a:rPr>
              <a:t>Overall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7999" y="3042000"/>
            <a:ext cx="5208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210"/>
                </a:solidFill>
                <a:latin typeface="Inter"/>
              </a:rPr>
              <a:t>A 1-5 star rating of the plan as a whole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2000" y="3600000"/>
            <a:ext cx="5460119" cy="882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92000" y="3600000"/>
            <a:ext cx="5460119" cy="64800"/>
          </a:xfrm>
          <a:prstGeom prst="rect">
            <a:avLst/>
          </a:prstGeom>
          <a:solidFill>
            <a:srgbClr val="3B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17999" y="3715200"/>
            <a:ext cx="520812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6FED"/>
                </a:solidFill>
                <a:latin typeface="Sora"/>
              </a:rPr>
              <a:t>Clarity and readability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7999" y="3996000"/>
            <a:ext cx="5208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210"/>
                </a:solidFill>
                <a:latin typeface="Inter"/>
              </a:rPr>
              <a:t>How easy the plan is to read and follow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2000" y="4554000"/>
            <a:ext cx="5460119" cy="882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92000" y="4554000"/>
            <a:ext cx="5460119" cy="64800"/>
          </a:xfrm>
          <a:prstGeom prst="rect">
            <a:avLst/>
          </a:prstGeom>
          <a:solidFill>
            <a:srgbClr val="4A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17999" y="4669200"/>
            <a:ext cx="520812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1F"/>
                </a:solidFill>
                <a:latin typeface="Sora"/>
              </a:rPr>
              <a:t>Personalization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7999" y="4950000"/>
            <a:ext cx="5208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210"/>
                </a:solidFill>
                <a:latin typeface="Inter"/>
              </a:rPr>
              <a:t>How tailored it felt to the user's profile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2000" y="5508000"/>
            <a:ext cx="5460119" cy="882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92000" y="5508000"/>
            <a:ext cx="5460119" cy="6480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17999" y="5623200"/>
            <a:ext cx="520812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8A47"/>
                </a:solidFill>
                <a:latin typeface="Sora"/>
              </a:rPr>
              <a:t>Would you follow it?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7999" y="5904000"/>
            <a:ext cx="5208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210"/>
                </a:solidFill>
                <a:latin typeface="Inter"/>
              </a:rPr>
              <a:t>Yes / Not really - the most honest signal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2000" y="6446150"/>
            <a:ext cx="546011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6A1A"/>
                </a:solidFill>
                <a:latin typeface="Inter"/>
              </a:rPr>
              <a:t>This feedback directly shapes which AI model powers </a:t>
            </a:r>
            <a:r>
              <a:rPr sz="1300" b="1" dirty="0" err="1">
                <a:solidFill>
                  <a:srgbClr val="FF6A1A"/>
                </a:solidFill>
                <a:latin typeface="Inter"/>
              </a:rPr>
              <a:t>FitMind</a:t>
            </a:r>
            <a:r>
              <a:rPr sz="1300" b="1" dirty="0">
                <a:solidFill>
                  <a:srgbClr val="FF6A1A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129515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2700" y="30155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  <a:latin typeface="Sora"/>
              </a:rP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Testing and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0000" y="1512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5999" y="163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000" y="1807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  <a:latin typeface="Sora"/>
              </a:rPr>
              <a:t>Unit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178000"/>
            <a:ext cx="5034059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Backend modules tested in isolation using pytest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Auth, profile, tracking, planning, and coaching covered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External API calls (OpenRouter, Groq, Firebase) fully mocked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0059" y="1512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76058" y="163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3B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4059" y="1807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B6FED"/>
                </a:solidFill>
                <a:latin typeface="Sora"/>
              </a:rPr>
              <a:t>Integration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4059" y="2178000"/>
            <a:ext cx="5034059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Full endpoints tested via FastAPI TestClient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Real PostgreSQL test database - no mock DB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Status codes, response schemas, and auth flow all verified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4068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5999" y="4193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4A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4000" y="4363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A7C1F"/>
                </a:solidFill>
                <a:latin typeface="Sora"/>
              </a:rPr>
              <a:t>AI Output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" y="4734000"/>
            <a:ext cx="5034059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Plans reviewed manually for 20+ profile configurations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Safety checked for diabetic, knee-injury, and asthma profiles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Coaching relevance verified against real logged data sets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0059" y="4068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76058" y="4193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94059" y="4363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8A47"/>
                </a:solidFill>
                <a:latin typeface="Sora"/>
              </a:rPr>
              <a:t>User Flow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4059" y="4734000"/>
            <a:ext cx="5034059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Full signup to plan generation tested end-to-end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Camera and voice tested on physical iOS and Android devices</a:t>
            </a:r>
          </a:p>
          <a:p>
            <a:pPr algn="l">
              <a:spcBef>
                <a:spcPts val="900"/>
              </a:spcBef>
            </a:pPr>
            <a:r>
              <a:rPr sz="1500">
                <a:solidFill>
                  <a:srgbClr val="141210"/>
                </a:solidFill>
                <a:latin typeface="Inter"/>
              </a:rPr>
              <a:t>Push notifications verified via Firebase console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123800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000" y="295200"/>
            <a:ext cx="109085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6A1A"/>
                </a:solidFill>
                <a:latin typeface="Sora"/>
              </a:rP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AI Plan Safety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0000" y="1476000"/>
            <a:ext cx="1111211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210"/>
                </a:solidFill>
                <a:latin typeface="Sora"/>
              </a:rPr>
              <a:t>Methodology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999" y="1771199"/>
            <a:ext cx="2912141" cy="45719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0000" y="1854000"/>
            <a:ext cx="11112118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78726B"/>
                </a:solidFill>
                <a:latin typeface="Inter"/>
              </a:rPr>
              <a:t>Plans are generated by the real </a:t>
            </a:r>
            <a:r>
              <a:rPr sz="1200" dirty="0" err="1">
                <a:solidFill>
                  <a:srgbClr val="78726B"/>
                </a:solidFill>
                <a:latin typeface="Inter"/>
              </a:rPr>
              <a:t>AICoachService</a:t>
            </a:r>
            <a:r>
              <a:rPr sz="1200" dirty="0">
                <a:solidFill>
                  <a:srgbClr val="78726B"/>
                </a:solidFill>
                <a:latin typeface="Inter"/>
              </a:rPr>
              <a:t> with automatic</a:t>
            </a:r>
            <a:r>
              <a:rPr lang="en-US" sz="1200" dirty="0">
                <a:solidFill>
                  <a:srgbClr val="78726B"/>
                </a:solidFill>
                <a:latin typeface="Inter"/>
              </a:rPr>
              <a:t> </a:t>
            </a:r>
            <a:r>
              <a:rPr sz="1200" dirty="0">
                <a:solidFill>
                  <a:srgbClr val="78726B"/>
                </a:solidFill>
                <a:latin typeface="Inter"/>
              </a:rPr>
              <a:t>regeneration disabled, then judged by </a:t>
            </a:r>
            <a:r>
              <a:rPr sz="1200" dirty="0" err="1">
                <a:solidFill>
                  <a:srgbClr val="78726B"/>
                </a:solidFill>
                <a:latin typeface="Inter"/>
              </a:rPr>
              <a:t>FitMind's</a:t>
            </a:r>
            <a:r>
              <a:rPr sz="1200" dirty="0">
                <a:solidFill>
                  <a:srgbClr val="78726B"/>
                </a:solidFill>
                <a:latin typeface="Inter"/>
              </a:rPr>
              <a:t> own production</a:t>
            </a:r>
          </a:p>
          <a:p>
            <a:pPr marL="285750" indent="-285750" algn="l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78726B"/>
                </a:solidFill>
                <a:latin typeface="Inter"/>
              </a:rPr>
              <a:t>PlanJudge</a:t>
            </a:r>
            <a:r>
              <a:rPr sz="1200" dirty="0">
                <a:solidFill>
                  <a:srgbClr val="78726B"/>
                </a:solidFill>
                <a:latin typeface="Inter"/>
              </a:rPr>
              <a:t> — the exact component and severity rubric used live.</a:t>
            </a:r>
          </a:p>
          <a:p>
            <a:pPr marL="285750" indent="-285750" algn="l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78726B"/>
                </a:solidFill>
                <a:latin typeface="Inter"/>
              </a:rPr>
              <a:t>A plan 'caught for regeneration' never reaches a real user.</a:t>
            </a:r>
          </a:p>
          <a:p>
            <a:pPr marL="285750" indent="-285750" algn="l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78726B"/>
                </a:solidFill>
                <a:latin typeface="Inter"/>
              </a:rPr>
              <a:t>For each flagged plan, the real regenerate-once path was run</a:t>
            </a:r>
            <a:r>
              <a:rPr lang="en-US" sz="1200" dirty="0">
                <a:solidFill>
                  <a:srgbClr val="78726B"/>
                </a:solidFill>
                <a:latin typeface="Inter"/>
              </a:rPr>
              <a:t> </a:t>
            </a:r>
            <a:r>
              <a:rPr sz="1200" dirty="0">
                <a:solidFill>
                  <a:srgbClr val="78726B"/>
                </a:solidFill>
                <a:latin typeface="Inter"/>
              </a:rPr>
              <a:t>and re-judged to measure whether the fix resolves the issue.</a:t>
            </a:r>
          </a:p>
          <a:p>
            <a:pPr marL="285750" indent="-285750" algn="l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78726B"/>
                </a:solidFill>
                <a:latin typeface="Inter"/>
              </a:rPr>
              <a:t>Structural compliance checks (day/meal count, calorie accuracy)are rule-based and run independently of the judge.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F2D1007F-0106-4CA0-E34E-0D483C85C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49" y="3081732"/>
            <a:ext cx="6565901" cy="34126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168250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000" y="29520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  <a:latin typeface="Sora"/>
              </a:rPr>
              <a:t>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Tech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0000" y="1512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5999" y="163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000" y="1807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  <a:latin typeface="Sora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000" y="2146250"/>
            <a:ext cx="5466059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dirty="0" err="1">
                <a:solidFill>
                  <a:srgbClr val="141210"/>
                </a:solidFill>
                <a:latin typeface="Inter"/>
              </a:rPr>
              <a:t>FastAPI</a:t>
            </a:r>
            <a:r>
              <a:rPr sz="1500" dirty="0">
                <a:solidFill>
                  <a:srgbClr val="141210"/>
                </a:solidFill>
                <a:latin typeface="Inter"/>
              </a:rPr>
              <a:t> (Python): async REST API with JWT middleware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PostgreSQL + </a:t>
            </a:r>
            <a:r>
              <a:rPr sz="1500" dirty="0" err="1">
                <a:solidFill>
                  <a:srgbClr val="141210"/>
                </a:solidFill>
                <a:latin typeface="Inter"/>
              </a:rPr>
              <a:t>pgvector</a:t>
            </a:r>
            <a:r>
              <a:rPr sz="1500" dirty="0">
                <a:solidFill>
                  <a:srgbClr val="141210"/>
                </a:solidFill>
                <a:latin typeface="Inter"/>
              </a:rPr>
              <a:t>: relational data and vector similarity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Redis + Celery + Celery Beat: async tasks and nightly scheduler</a:t>
            </a:r>
          </a:p>
          <a:p>
            <a:pPr algn="l">
              <a:spcBef>
                <a:spcPts val="900"/>
              </a:spcBef>
            </a:pPr>
            <a:r>
              <a:rPr sz="1500" dirty="0" err="1">
                <a:solidFill>
                  <a:srgbClr val="141210"/>
                </a:solidFill>
                <a:latin typeface="Inter"/>
              </a:rPr>
              <a:t>SQLAlchemy</a:t>
            </a:r>
            <a:r>
              <a:rPr sz="1500" dirty="0">
                <a:solidFill>
                  <a:srgbClr val="141210"/>
                </a:solidFill>
                <a:latin typeface="Inter"/>
              </a:rPr>
              <a:t> 2.0 + Alembic: ORM and schema migrations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0059" y="1512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76058" y="163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3B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4059" y="1807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B6FED"/>
                </a:solidFill>
                <a:latin typeface="Sora"/>
              </a:rPr>
              <a:t>Mobile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4059" y="2178000"/>
            <a:ext cx="5034059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Flutter (Dart): single codebase for iOS and Android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Provider: lightweight reactive state management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Dio: HTTP client with JWT token refresh interceptors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Firebase FCM: push notifications for daily coaching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4068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5999" y="4193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4A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4000" y="4363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A7C1F"/>
                </a:solidFill>
                <a:latin typeface="Sora"/>
              </a:rPr>
              <a:t>AI and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" y="4734000"/>
            <a:ext cx="5034059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dirty="0" err="1">
                <a:solidFill>
                  <a:srgbClr val="141210"/>
                </a:solidFill>
                <a:latin typeface="Inter"/>
              </a:rPr>
              <a:t>OpenRouter</a:t>
            </a:r>
            <a:r>
              <a:rPr sz="1500" dirty="0">
                <a:solidFill>
                  <a:srgbClr val="141210"/>
                </a:solidFill>
                <a:latin typeface="Inter"/>
              </a:rPr>
              <a:t>: gateway to Qwen 235B for planning and coaching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Qwen2.5-VL: vision model for meal macro extraction</a:t>
            </a:r>
          </a:p>
          <a:p>
            <a:pPr algn="l">
              <a:spcBef>
                <a:spcPts val="900"/>
              </a:spcBef>
            </a:pPr>
            <a:r>
              <a:rPr sz="1500" dirty="0" err="1">
                <a:solidFill>
                  <a:srgbClr val="141210"/>
                </a:solidFill>
                <a:latin typeface="Inter"/>
              </a:rPr>
              <a:t>Groq</a:t>
            </a:r>
            <a:r>
              <a:rPr sz="1500" dirty="0">
                <a:solidFill>
                  <a:srgbClr val="141210"/>
                </a:solidFill>
                <a:latin typeface="Inter"/>
              </a:rPr>
              <a:t> Whisper: fast speech-to-text for voice logging</a:t>
            </a:r>
          </a:p>
          <a:p>
            <a:pPr algn="l">
              <a:spcBef>
                <a:spcPts val="900"/>
              </a:spcBef>
            </a:pPr>
            <a:r>
              <a:rPr sz="1500" dirty="0" err="1">
                <a:solidFill>
                  <a:srgbClr val="141210"/>
                </a:solidFill>
                <a:latin typeface="Inter"/>
              </a:rPr>
              <a:t>ChromaDB</a:t>
            </a:r>
            <a:r>
              <a:rPr sz="1500" dirty="0">
                <a:solidFill>
                  <a:srgbClr val="141210"/>
                </a:solidFill>
                <a:latin typeface="Inter"/>
              </a:rPr>
              <a:t> + sentence-transformers: RAG vector knowledge 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0059" y="4068000"/>
            <a:ext cx="5322059" cy="2448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76058" y="4193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94059" y="4363200"/>
            <a:ext cx="503405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8A47"/>
                </a:solidFill>
                <a:latin typeface="Sora"/>
              </a:rPr>
              <a:t>Ops and Landing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4059" y="4734000"/>
            <a:ext cx="5034059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Docker Compose: full multi-service containerized deployment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Next.js 15 + TypeScript + Tailwind CSS: landing page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Framer Motion: scroll-triggered animations</a:t>
            </a:r>
          </a:p>
          <a:p>
            <a:pPr algn="l">
              <a:spcBef>
                <a:spcPts val="900"/>
              </a:spcBef>
            </a:pPr>
            <a:r>
              <a:rPr sz="1500" dirty="0">
                <a:solidFill>
                  <a:srgbClr val="141210"/>
                </a:solidFill>
                <a:latin typeface="Inter"/>
              </a:rPr>
              <a:t>Prisma: database layer for the landing page demo feature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89510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6350" y="30155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  <a:latin typeface="Sora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Live Demo Walkthrough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130785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3650" y="30790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  <a:latin typeface="Sora"/>
              </a:rP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Challenges and Solutions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0000" y="1512000"/>
            <a:ext cx="11112119" cy="9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0000" y="1512000"/>
            <a:ext cx="90000" cy="95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6000" y="1584000"/>
            <a:ext cx="46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  <a:latin typeface="Sora"/>
              </a:rPr>
              <a:t>LLM Output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1872000"/>
            <a:ext cx="516005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26B"/>
                </a:solidFill>
                <a:latin typeface="Inter"/>
              </a:rPr>
              <a:t>LLM occasionally returns malformed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59" y="1872000"/>
            <a:ext cx="523205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210"/>
                </a:solidFill>
                <a:latin typeface="Inter"/>
              </a:rPr>
              <a:t>JSON schema with examples in the system prompt; auto-retry on parse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2545200"/>
            <a:ext cx="11112119" cy="9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0000" y="2545200"/>
            <a:ext cx="90000" cy="95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6000" y="2617200"/>
            <a:ext cx="46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  <a:latin typeface="Sora"/>
              </a:rPr>
              <a:t>AI Safety for Medical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2905200"/>
            <a:ext cx="516005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26B"/>
                </a:solidFill>
                <a:latin typeface="Inter"/>
              </a:rPr>
              <a:t>Generic responses can be unsafe for the user's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59" y="2905200"/>
            <a:ext cx="523205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210"/>
                </a:solidFill>
                <a:latin typeface="Inter"/>
              </a:rPr>
              <a:t>Condition-specific safety rules injected from the health profile into every AI 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578400"/>
            <a:ext cx="11112119" cy="9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0000" y="3578400"/>
            <a:ext cx="90000" cy="95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6000" y="3650400"/>
            <a:ext cx="46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  <a:latin typeface="Sora"/>
              </a:rPr>
              <a:t>Meal Vision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000" y="3938400"/>
            <a:ext cx="516005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26B"/>
                </a:solidFill>
                <a:latin typeface="Inter"/>
              </a:rPr>
              <a:t>Estimates vary with lighting and portion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59" y="3938400"/>
            <a:ext cx="523205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210"/>
                </a:solidFill>
                <a:latin typeface="Inter"/>
              </a:rPr>
              <a:t>All macro values are fully editable after every scan - AI suggests, user confirms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4611600"/>
            <a:ext cx="11112119" cy="9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0000" y="4611600"/>
            <a:ext cx="90000" cy="95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6000" y="4683600"/>
            <a:ext cx="46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  <a:latin typeface="Sora"/>
              </a:rPr>
              <a:t>Background Task 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000" y="4971600"/>
            <a:ext cx="516005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26B"/>
                </a:solidFill>
                <a:latin typeface="Inter"/>
              </a:rPr>
              <a:t>Nightly coaching jobs must complete for every active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59" y="4971600"/>
            <a:ext cx="523205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210"/>
                </a:solidFill>
                <a:latin typeface="Inter"/>
              </a:rPr>
              <a:t>Celery Beat with Redis; failed tasks auto-retry with exponential backoff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000" y="5644800"/>
            <a:ext cx="11112119" cy="9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0000" y="5644800"/>
            <a:ext cx="90000" cy="95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000" y="5716800"/>
            <a:ext cx="46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  <a:latin typeface="Sora"/>
              </a:rPr>
              <a:t>Cross-Platform Media Permissions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000" y="6004800"/>
            <a:ext cx="516005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26B"/>
                </a:solidFill>
                <a:latin typeface="Inter"/>
              </a:rPr>
              <a:t>Camera and microphone flows differ between iOS and Android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59" y="6004800"/>
            <a:ext cx="523205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210"/>
                </a:solidFill>
                <a:latin typeface="Inter"/>
              </a:rPr>
              <a:t>Platform-specific permission handlers tested on physical devices for both platforms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149835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000" y="30790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  <a:latin typeface="Sora"/>
              </a:rPr>
              <a:t>Future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Future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0000" y="1512000"/>
            <a:ext cx="3524039" cy="2412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5999" y="163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000" y="1807200"/>
            <a:ext cx="323603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  <a:latin typeface="Sora"/>
              </a:rPr>
              <a:t>Adaptive Plan 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178000"/>
            <a:ext cx="3236039" cy="16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Auto-regenerate plan when goals or weight change significantly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Plateau detection triggers a new AI planning cycle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The plan evolves with the user, no restart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0039" y="1512000"/>
            <a:ext cx="3524039" cy="2412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06038" y="163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3B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4039" y="1807200"/>
            <a:ext cx="323603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B6FED"/>
                </a:solidFill>
                <a:latin typeface="Sora"/>
              </a:rPr>
              <a:t>Wearable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4039" y="2178000"/>
            <a:ext cx="3236039" cy="16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Sync with Apple Watch and Samsung Galaxy Watch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Auto-collect heart rate, steps, and sleep data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Eliminates manual sleep and step logging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0079" y="1512000"/>
            <a:ext cx="3524039" cy="2412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46078" y="163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4A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64079" y="1807200"/>
            <a:ext cx="323603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A7C1F"/>
                </a:solidFill>
                <a:latin typeface="Sora"/>
              </a:rPr>
              <a:t>Social and Community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4079" y="2178000"/>
            <a:ext cx="3236039" cy="16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Challenges and leaderboards among friends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Shared progress boards and group fitness goals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Community motivation without compromising privacy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000" y="4032000"/>
            <a:ext cx="3524039" cy="2412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5999" y="415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4000" y="4327200"/>
            <a:ext cx="323603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C3AED"/>
                </a:solidFill>
                <a:latin typeface="Sora"/>
              </a:rPr>
              <a:t>Predictive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000" y="4698000"/>
            <a:ext cx="3236039" cy="16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AI forecasts weight milestones and body-composition trends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Early warnings for overtraining or nutrition gaps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Actual vs projected progress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0039" y="4032000"/>
            <a:ext cx="3524039" cy="2412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06038" y="415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787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24039" y="4327200"/>
            <a:ext cx="323603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8726B"/>
                </a:solidFill>
                <a:latin typeface="Sora"/>
              </a:rPr>
              <a:t>Coach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4039" y="4698000"/>
            <a:ext cx="3236039" cy="16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Platform for certified coaches and nutritionists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Client management dashboard with progress monitoring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Professional monetization built on FitMind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0079" y="4032000"/>
            <a:ext cx="3524039" cy="241200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46078" y="4157999"/>
            <a:ext cx="648000" cy="100800"/>
          </a:xfrm>
          <a:prstGeom prst="roundRect">
            <a:avLst>
              <a:gd name="adj" fmla="val 50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4079" y="4327200"/>
            <a:ext cx="3236039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8A47"/>
                </a:solidFill>
                <a:latin typeface="Sora"/>
              </a:rPr>
              <a:t>Smart Meal 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4079" y="4698000"/>
            <a:ext cx="3236039" cy="16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Weekly grocery list generated from the nutrition plan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Meal prep guides and cooking instructions</a:t>
            </a:r>
          </a:p>
          <a:p>
            <a:pPr algn="l">
              <a:spcBef>
                <a:spcPts val="900"/>
              </a:spcBef>
            </a:pPr>
            <a:r>
              <a:rPr sz="1400">
                <a:solidFill>
                  <a:srgbClr val="141210"/>
                </a:solidFill>
                <a:latin typeface="Inter"/>
              </a:rPr>
              <a:t>Restaurant menu scanning via augmented reality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0000" y="306000"/>
            <a:ext cx="1269750" cy="3060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1900" y="314250"/>
            <a:ext cx="21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6A1A"/>
                </a:solidFill>
                <a:latin typeface="Sora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720000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1210"/>
                </a:solidFill>
                <a:latin typeface="Sora"/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404000"/>
            <a:ext cx="11112119" cy="252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1475999"/>
            <a:ext cx="1111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8726B"/>
                </a:solidFill>
                <a:latin typeface="Inter"/>
              </a:rPr>
              <a:t>FitMind proves that a focused team can ship a genuinely intelligent fitness companion that is personalized, multimodal, safety-aware, and bilingual by design.</a:t>
            </a:r>
          </a:p>
        </p:txBody>
      </p:sp>
      <p:sp>
        <p:nvSpPr>
          <p:cNvPr id="10" name="Oval 9"/>
          <p:cNvSpPr/>
          <p:nvPr/>
        </p:nvSpPr>
        <p:spPr>
          <a:xfrm>
            <a:off x="540000" y="2358000"/>
            <a:ext cx="198000" cy="198000"/>
          </a:xfrm>
          <a:prstGeom prst="ellipse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6000" y="2260800"/>
            <a:ext cx="396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  <a:latin typeface="Sora"/>
              </a:rPr>
              <a:t>Problem 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000" y="2545200"/>
            <a:ext cx="10680119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210"/>
                </a:solidFill>
                <a:latin typeface="Inter"/>
              </a:rPr>
              <a:t>Replaced generic fitness apps with an AI coach that adapts to each user's real health profile, medical conditions, and goals.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3240000"/>
            <a:ext cx="198000" cy="198000"/>
          </a:xfrm>
          <a:prstGeom prst="ellipse">
            <a:avLst/>
          </a:prstGeom>
          <a:solidFill>
            <a:srgbClr val="3B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6000" y="3142800"/>
            <a:ext cx="396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6FED"/>
                </a:solidFill>
                <a:latin typeface="Sora"/>
              </a:rPr>
              <a:t>Three AI Modalities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000" y="3427200"/>
            <a:ext cx="10680119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210"/>
                </a:solidFill>
                <a:latin typeface="Inter"/>
              </a:rPr>
              <a:t>LLM plan generation, computer vision meal scanning, and speech-to-text workout logging - all shipped in one production-ready mobile app.</a:t>
            </a:r>
          </a:p>
        </p:txBody>
      </p:sp>
      <p:sp>
        <p:nvSpPr>
          <p:cNvPr id="16" name="Oval 15"/>
          <p:cNvSpPr/>
          <p:nvPr/>
        </p:nvSpPr>
        <p:spPr>
          <a:xfrm>
            <a:off x="540000" y="4122000"/>
            <a:ext cx="198000" cy="198000"/>
          </a:xfrm>
          <a:prstGeom prst="ellipse">
            <a:avLst/>
          </a:prstGeom>
          <a:solidFill>
            <a:srgbClr val="4A7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000" y="4024800"/>
            <a:ext cx="396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7C1F"/>
                </a:solidFill>
                <a:latin typeface="Sora"/>
              </a:rPr>
              <a:t>Safety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000" y="4309200"/>
            <a:ext cx="10680119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210"/>
                </a:solidFill>
                <a:latin typeface="Inter"/>
              </a:rPr>
              <a:t>Medical conditions and injuries are embedded in every AI call, making every recommendation condition-aware and safe, not just personalized.</a:t>
            </a:r>
          </a:p>
        </p:txBody>
      </p:sp>
      <p:sp>
        <p:nvSpPr>
          <p:cNvPr id="19" name="Oval 18"/>
          <p:cNvSpPr/>
          <p:nvPr/>
        </p:nvSpPr>
        <p:spPr>
          <a:xfrm>
            <a:off x="540000" y="5004000"/>
            <a:ext cx="198000" cy="198000"/>
          </a:xfrm>
          <a:prstGeom prst="ellipse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6000" y="4906800"/>
            <a:ext cx="396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A47"/>
                </a:solidFill>
                <a:latin typeface="Sora"/>
              </a:rPr>
              <a:t>Full-Stack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000" y="5191200"/>
            <a:ext cx="10680119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210"/>
                </a:solidFill>
                <a:latin typeface="Inter"/>
              </a:rPr>
              <a:t>Flutter, FastAPI, PostgreSQL + pgvector, ChromaDB, Redis, Celery, Firebase FCM, Docker Compose, and a Next.js landing page with a live interactive demo.</a:t>
            </a:r>
          </a:p>
        </p:txBody>
      </p:sp>
      <p:sp>
        <p:nvSpPr>
          <p:cNvPr id="22" name="Oval 21"/>
          <p:cNvSpPr/>
          <p:nvPr/>
        </p:nvSpPr>
        <p:spPr>
          <a:xfrm>
            <a:off x="540000" y="5886000"/>
            <a:ext cx="198000" cy="198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000" y="5788800"/>
            <a:ext cx="396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3AED"/>
                </a:solidFill>
                <a:latin typeface="Sora"/>
              </a:rPr>
              <a:t>Inclusive from Day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000" y="6073200"/>
            <a:ext cx="10680119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210"/>
                </a:solidFill>
                <a:latin typeface="Inter"/>
              </a:rPr>
              <a:t>Full Arabic RTL support and a localized MENA food database built in from the start, not a future feature.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9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000"/>
            <a:ext cx="12192119" cy="16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060" y="432000"/>
            <a:ext cx="1620000" cy="162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000" y="5220000"/>
            <a:ext cx="833143" cy="1080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059" y="5220000"/>
            <a:ext cx="1324800" cy="10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0000" y="2160000"/>
            <a:ext cx="1111211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FFFFFF"/>
                </a:solidFill>
                <a:latin typeface="Sora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671999"/>
            <a:ext cx="1111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FF6A1A"/>
                </a:solidFill>
                <a:latin typeface="Sora"/>
              </a:rPr>
              <a:t>Questions?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0" y="4500000"/>
            <a:ext cx="4992119" cy="25200"/>
          </a:xfrm>
          <a:prstGeom prst="rect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4626000"/>
            <a:ext cx="1111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8726B"/>
                </a:solidFill>
                <a:latin typeface="Inter"/>
              </a:rPr>
              <a:t>Mohamed Taha  |  Medhat Ahmed  |  Ahmed Saber  |  Mohammed Gamal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950000"/>
            <a:ext cx="1111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8726B"/>
                </a:solidFill>
                <a:latin typeface="Inter"/>
              </a:rPr>
              <a:t>Supervised by: Dr. Osama Ismail  |  TA. Doaa Ghaleb  | 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Competitor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FitMind vs. leading fitness apps — 7 key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87552"/>
            <a:ext cx="1828800" cy="36576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15568"/>
          <a:ext cx="859536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63040"/>
                <a:gridCol w="1554480"/>
                <a:gridCol w="1554480"/>
                <a:gridCol w="1554480"/>
              </a:tblGrid>
              <a:tr h="47434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CCCCC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E1C1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FitMind</a:t>
                      </a:r>
                    </a:p>
                  </a:txBody>
                  <a:tcPr>
                    <a:solidFill>
                      <a:srgbClr val="FF6A1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CCCCC"/>
                          </a:solidFill>
                        </a:rPr>
                        <a:t>MyFitnessPal</a:t>
                      </a:r>
                    </a:p>
                  </a:txBody>
                  <a:tcPr>
                    <a:solidFill>
                      <a:srgbClr val="1E1C1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CCCCC"/>
                          </a:solidFill>
                        </a:rPr>
                        <a:t>Noom</a:t>
                      </a:r>
                    </a:p>
                  </a:txBody>
                  <a:tcPr>
                    <a:solidFill>
                      <a:srgbClr val="1E1C1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CCCCC"/>
                          </a:solidFill>
                        </a:rPr>
                        <a:t>Fitbod</a:t>
                      </a:r>
                    </a:p>
                  </a:txBody>
                  <a:tcPr>
                    <a:solidFill>
                      <a:srgbClr val="1E1C1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EEEEE"/>
                          </a:solidFill>
                        </a:rPr>
                        <a:t>🏋  AI Workout Plans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7A2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CD96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EEEEE"/>
                          </a:solidFill>
                        </a:rPr>
                        <a:t>🥗  AI Nutrition Plans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7A2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C047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EEEEE"/>
                          </a:solidFill>
                        </a:rPr>
                        <a:t>📷  Camera Meal Scan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7A2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EEEEE"/>
                          </a:solidFill>
                        </a:rPr>
                        <a:t>🎙  Voice Logging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7A2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EEEEE"/>
                          </a:solidFill>
                        </a:rPr>
                        <a:t>🤖  Daily AI Coaching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7A2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4CD96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EEEEE"/>
                          </a:solidFill>
                        </a:rPr>
                        <a:t>⚕  Health Condition Safety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7A2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22201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EEEEE"/>
                          </a:solidFill>
                        </a:rPr>
                        <a:t>📊  Unified Fitness Score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7A2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5A5A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A18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00176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</a:rPr>
              <a:t>Partial = behavioral guidance only, no full nutrition-plan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2030</Words>
  <Application>Microsoft Office PowerPoint</Application>
  <PresentationFormat>Widescreen</PresentationFormat>
  <Paragraphs>293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Inter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Feyd Rautha</cp:lastModifiedBy>
  <cp:revision>10</cp:revision>
  <dcterms:created xsi:type="dcterms:W3CDTF">2013-01-27T09:14:16Z</dcterms:created>
  <dcterms:modified xsi:type="dcterms:W3CDTF">2026-07-07T14:13:40Z</dcterms:modified>
  <cp:category/>
</cp:coreProperties>
</file>