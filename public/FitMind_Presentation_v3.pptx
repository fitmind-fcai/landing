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260000"/>
            <a:ext cx="11184120" cy="16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600" b="1">
                <a:solidFill>
                  <a:srgbClr val="FFFFFF"/>
                </a:solidFill>
              </a:rPr>
              <a:t>FitMind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2951999"/>
            <a:ext cx="1118412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0">
                <a:solidFill>
                  <a:srgbClr val="FF6A1A"/>
                </a:solidFill>
              </a:rPr>
              <a:t>AI-Powered Fitness &amp; Nutrition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3528000"/>
            <a:ext cx="7200000" cy="25200"/>
          </a:xfrm>
          <a:prstGeom prst="rect">
            <a:avLst/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3999" y="3636000"/>
            <a:ext cx="1118412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999793"/>
                </a:solidFill>
              </a:rPr>
              <a:t>Mohamed Taha  ·  Medhat Ahmed  ·  Ahmed Saber  ·  Mohammed Gamal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3960000"/>
            <a:ext cx="1118412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99793"/>
                </a:solidFill>
              </a:rPr>
              <a:t>Dr. Osama Ismail  ·  TA. Doaa Ghaleb  ·  Cairo University FCAI  · 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52119" y="432000"/>
            <a:ext cx="1800000" cy="792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04119" y="396000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19" y="468000"/>
            <a:ext cx="100799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999793"/>
                </a:solidFill>
              </a:rPr>
              <a:t>AI-Powered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80119" y="684000"/>
            <a:ext cx="100799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F6A1A"/>
                </a:solidFill>
              </a:rPr>
              <a:t>Fitness Coach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936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864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⚠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Fitness App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1080000"/>
            <a:ext cx="3536039" cy="162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2000" y="1080000"/>
            <a:ext cx="36000" cy="1620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1224000"/>
            <a:ext cx="328404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FF6A1A"/>
                </a:solidFill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1907999"/>
            <a:ext cx="328404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999793"/>
                </a:solidFill>
              </a:rPr>
              <a:t>abandon in 2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" y="2160000"/>
            <a:ext cx="328404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Manual logging is too tedious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84039" y="1080000"/>
            <a:ext cx="3536039" cy="162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84039" y="1080000"/>
            <a:ext cx="36000" cy="1620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4039" y="1224000"/>
            <a:ext cx="328404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FF6A1A"/>
                </a:solidFill>
              </a:rPr>
              <a:t>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039" y="1907999"/>
            <a:ext cx="328404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999793"/>
                </a:solidFill>
              </a:rPr>
              <a:t>apps to track 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039" y="2160000"/>
            <a:ext cx="328404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No unified health picture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079" y="1080000"/>
            <a:ext cx="3536039" cy="162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36079" y="1080000"/>
            <a:ext cx="36000" cy="1620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6079" y="1224000"/>
            <a:ext cx="328404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FF6A1A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6079" y="1907999"/>
            <a:ext cx="328404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999793"/>
                </a:solidFill>
              </a:rPr>
              <a:t>apps adapt to conditions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6079" y="2160000"/>
            <a:ext cx="328404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Injuries &amp; meds ignored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2844000"/>
            <a:ext cx="11328119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999793"/>
                </a:solidFill>
              </a:rPr>
              <a:t>Most fitness apps give everyone the same generic plan — no adaptation, no safety, no context.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3168000"/>
            <a:ext cx="11328119" cy="1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🎯  Plans never adapt to your progress or lifestyle</a:t>
            </a:r>
          </a:p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⚕️  Chronic conditions, injuries, allergies — completely ignored</a:t>
            </a:r>
          </a:p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🔇  No AI insights — only raw tracking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1224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115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🏆  Competitors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How FitMind Compares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2000" y="1080000"/>
          <a:ext cx="8783999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/>
                <a:gridCol w="1404000"/>
                <a:gridCol w="1620000"/>
                <a:gridCol w="1835999"/>
                <a:gridCol w="1332000"/>
              </a:tblGrid>
              <a:tr h="4950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99793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E1C1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FitMind</a:t>
                      </a:r>
                    </a:p>
                  </a:txBody>
                  <a:tcPr>
                    <a:solidFill>
                      <a:srgbClr val="FF6A1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99793"/>
                          </a:solidFill>
                        </a:rPr>
                        <a:t>Freeletics</a:t>
                      </a:r>
                    </a:p>
                  </a:txBody>
                  <a:tcPr>
                    <a:solidFill>
                      <a:srgbClr val="1E1C1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99793"/>
                          </a:solidFill>
                        </a:rPr>
                        <a:t>MyFitnessPal</a:t>
                      </a:r>
                    </a:p>
                  </a:txBody>
                  <a:tcPr>
                    <a:solidFill>
                      <a:srgbClr val="1E1C1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999793"/>
                          </a:solidFill>
                        </a:rPr>
                        <a:t>Noom</a:t>
                      </a:r>
                    </a:p>
                  </a:txBody>
                  <a:tcPr>
                    <a:solidFill>
                      <a:srgbClr val="1E1C1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95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</a:rPr>
                        <a:t>🏋  AI Workout Plans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7A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C047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95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</a:rPr>
                        <a:t>🥗  AI Nutrition Plans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7A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C047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C047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95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</a:rPr>
                        <a:t>📷  Camera Meal Scan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7A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95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</a:rPr>
                        <a:t>🎙  Voice Logging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7A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95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</a:rPr>
                        <a:t>🤖  Daily AI Coaching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7A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4CD96A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4CD96A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95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</a:rPr>
                        <a:t>⚕  Health Condition Safety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7A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22201C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95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</a:rPr>
                        <a:t>📊  Unified Fitness Score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7A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F5A5A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1A18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32000" y="6426000"/>
            <a:ext cx="1132811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999793"/>
                </a:solidFill>
              </a:rPr>
              <a:t>Freeletics = closest competitor (AI workout + nutrition coaching);  Partial = category exists but limited depth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1008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936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✦ 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Introducing FitMind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1080000"/>
            <a:ext cx="5376059" cy="252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2000" y="1080000"/>
            <a:ext cx="5376059" cy="3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1152000"/>
            <a:ext cx="50399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508805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Personalized AI 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1817999"/>
            <a:ext cx="5088059" cy="16920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17-question health assessment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Injuries, allergies, meds — built in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Weekly workout + daily nutrition plan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Plans re-generated as goals 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0058" y="1080000"/>
            <a:ext cx="5376059" cy="252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0058" y="1080000"/>
            <a:ext cx="5376059" cy="3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4058" y="1152000"/>
            <a:ext cx="50399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</a:rPr>
              <a:t>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4058" y="1512000"/>
            <a:ext cx="508805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Multimodal Logging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058" y="1817999"/>
            <a:ext cx="5088059" cy="16920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Camera: photograph meal → AI reads macros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Voice: speak what you ate → logged instantly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Text entry always available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780000"/>
            <a:ext cx="5376059" cy="252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000" y="3780000"/>
            <a:ext cx="5376059" cy="3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" y="3852000"/>
            <a:ext cx="50399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4212000"/>
            <a:ext cx="508805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Daily AI Coaching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00" y="4517999"/>
            <a:ext cx="5088059" cy="16920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Celery Beat runs analysis every night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All logs (food, workouts, sleep, water) analyzed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Personalized tip delivered each morning via FCM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60058" y="3780000"/>
            <a:ext cx="5376059" cy="252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60058" y="3780000"/>
            <a:ext cx="5376059" cy="3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4058" y="3852000"/>
            <a:ext cx="50399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4058" y="4212000"/>
            <a:ext cx="508805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Unified Fitness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4058" y="4517999"/>
            <a:ext cx="5088059" cy="16920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0–100 composite score — 6 health dimensions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Nutrition, Workouts, Hydration, Sleep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7-day rolling window, updated nightly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1296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1224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🏗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5</a:t>
            </a:r>
          </a:p>
        </p:txBody>
      </p:sp>
      <p:pic>
        <p:nvPicPr>
          <p:cNvPr id="7" name="Picture 6" descr="arch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70" y="1044000"/>
            <a:ext cx="8470577" cy="563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1224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115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⚡  AI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Plan Generation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059" y="1152000"/>
            <a:ext cx="162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 w="19050">
            <a:solidFill>
              <a:srgbClr val="FF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059" y="1206000"/>
            <a:ext cx="147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User
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1059" y="1314000"/>
            <a:ext cx="198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6A1A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9" y="1152000"/>
            <a:ext cx="1620000" cy="576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059" y="1206000"/>
            <a:ext cx="147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Generate
Qwen 235B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9059" y="1314000"/>
            <a:ext cx="198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6A1A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059" y="1152000"/>
            <a:ext cx="162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 w="19050">
            <a:solidFill>
              <a:srgbClr val="FF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9059" y="1206000"/>
            <a:ext cx="147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Judge
gpt-4o-mini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7059" y="1314000"/>
            <a:ext cx="198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6A1A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59" y="1152000"/>
            <a:ext cx="162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 w="19050">
            <a:solidFill>
              <a:srgbClr val="FF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7059" y="1206000"/>
            <a:ext cx="147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Fix Once
(if needed)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5059" y="1314000"/>
            <a:ext cx="198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6A1A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3059" y="1152000"/>
            <a:ext cx="162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 w="19050">
            <a:solidFill>
              <a:srgbClr val="FF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85059" y="1206000"/>
            <a:ext cx="147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Allergy
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3059" y="1314000"/>
            <a:ext cx="198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6A1A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31059" y="1152000"/>
            <a:ext cx="1620000" cy="576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3059" y="1206000"/>
            <a:ext cx="147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Deliver
to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1908000"/>
            <a:ext cx="1132811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6A1A"/>
                </a:solidFill>
              </a:rPr>
              <a:t>Three-Channel System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2196000"/>
            <a:ext cx="11328119" cy="10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🎯  P — Deterministic TDEE targets (Mifflin-St Jeor, activity multiplier 1.20–1.90)</a:t>
            </a:r>
          </a:p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⚕️  C — Condition-specific safety rules (per injury / allergy / medication)</a:t>
            </a:r>
          </a:p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📦  B — Whitelisted food &amp; exercise IDs from RAG retrieval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384000"/>
            <a:ext cx="11328119" cy="432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00" y="3438000"/>
            <a:ext cx="1104011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99793"/>
                </a:solidFill>
              </a:rPr>
              <a:t>🔒  Allergy gate is deterministic — not LLM-based. Any whitelisted food containing a flagged allergen is silently removed before delivery.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3960000"/>
            <a:ext cx="270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3999" y="3996000"/>
            <a:ext cx="2592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FF6A1A"/>
                </a:solidFill>
              </a:rPr>
              <a:t>235B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3999" y="4284000"/>
            <a:ext cx="25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99793"/>
                </a:solidFill>
              </a:rPr>
              <a:t>params, Qwen plan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40000" y="3960000"/>
            <a:ext cx="270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11999" y="3996000"/>
            <a:ext cx="2592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FF6A1A"/>
                </a:solidFill>
              </a:rPr>
              <a:t>gpt-4o-mini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1999" y="4284000"/>
            <a:ext cx="25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99793"/>
                </a:solidFill>
              </a:rPr>
              <a:t>safety judge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48000" y="3960000"/>
            <a:ext cx="270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19999" y="3996000"/>
            <a:ext cx="2592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FF6A1A"/>
                </a:solidFill>
              </a:rPr>
              <a:t>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9999" y="4284000"/>
            <a:ext cx="25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99793"/>
                </a:solidFill>
              </a:rPr>
              <a:t>health assessment fields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56000" y="3960000"/>
            <a:ext cx="270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27999" y="3996000"/>
            <a:ext cx="2592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FF6A1A"/>
                </a:solidFill>
              </a:rPr>
              <a:t>1200–5000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7999" y="4284000"/>
            <a:ext cx="25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99793"/>
                </a:solidFill>
              </a:rPr>
              <a:t>kcal TDEE clamp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648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576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Hybrid Search — How We Find the Right Foods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1080000"/>
            <a:ext cx="2160000" cy="792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 w="19050">
            <a:solidFill>
              <a:srgbClr val="FF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4000" y="1134000"/>
            <a:ext cx="2016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User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2000" y="1296000"/>
            <a:ext cx="108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6A1A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00000" y="1080000"/>
            <a:ext cx="2160000" cy="792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2000" y="1134000"/>
            <a:ext cx="2016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BM25
Okapi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0000" y="1296000"/>
            <a:ext cx="108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6A1A"/>
                </a:solidFill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8000" y="1080000"/>
            <a:ext cx="2160000" cy="792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0000" y="1134000"/>
            <a:ext cx="2016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ChromaDB
Semantic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8000" y="1296000"/>
            <a:ext cx="108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6A1A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6000" y="1080000"/>
            <a:ext cx="2160000" cy="792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 w="19050">
            <a:solidFill>
              <a:srgbClr val="FF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08000" y="1134000"/>
            <a:ext cx="2016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Reciprocal
Rank Fusion
(k=60)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6000" y="1296000"/>
            <a:ext cx="108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6A1A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4000" y="1080000"/>
            <a:ext cx="2160000" cy="792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 w="19050">
            <a:solidFill>
              <a:srgbClr val="FF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6000" y="1134000"/>
            <a:ext cx="2016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Top-K
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2052000"/>
            <a:ext cx="11328119" cy="19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📚  Food database — 8,789 items (USDA + nutrition.csv)</a:t>
            </a:r>
          </a:p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🧠  Embeddings — paraphrase-multilingual-MiniLM-L12-v2  (384 dimensions)</a:t>
            </a:r>
          </a:p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⚡  BM25 keyword scoring + ChromaDB cosine similarity — run in parallel</a:t>
            </a:r>
          </a:p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🔀  RRF formula: score = Σ  1 / (k + rank_i)  where k=60</a:t>
            </a:r>
          </a:p>
          <a:p>
            <a:pPr algn="l">
              <a:spcBef>
                <a:spcPts val="500"/>
              </a:spcBef>
            </a:pPr>
            <a:r>
              <a:rPr sz="1700">
                <a:solidFill>
                  <a:srgbClr val="FFFFFF"/>
                </a:solidFill>
              </a:rPr>
              <a:t>🌍  Multilingual model supports Arabic &amp; English queries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140000"/>
            <a:ext cx="270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3999" y="4176000"/>
            <a:ext cx="2592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6A1A"/>
                </a:solidFill>
              </a:rPr>
              <a:t>8,789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4464000"/>
            <a:ext cx="25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99793"/>
                </a:solidFill>
              </a:rPr>
              <a:t>foods in DB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0000" y="4140000"/>
            <a:ext cx="270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1999" y="4176000"/>
            <a:ext cx="2592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6A1A"/>
                </a:solidFill>
              </a:rPr>
              <a:t>384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1999" y="4464000"/>
            <a:ext cx="25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99793"/>
                </a:solidFill>
              </a:rPr>
              <a:t>embedding dims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48000" y="4140000"/>
            <a:ext cx="270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19999" y="4176000"/>
            <a:ext cx="2592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6A1A"/>
                </a:solidFill>
              </a:rPr>
              <a:t>k=60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19999" y="4464000"/>
            <a:ext cx="25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99793"/>
                </a:solidFill>
              </a:rPr>
              <a:t>RRF constant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56000" y="4140000"/>
            <a:ext cx="2700000" cy="576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27999" y="4176000"/>
            <a:ext cx="2592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6A1A"/>
                </a:solidFill>
              </a:rPr>
              <a:t>2×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7999" y="4464000"/>
            <a:ext cx="25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999793"/>
                </a:solidFill>
              </a:rPr>
              <a:t>retrieval runs parallel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792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72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📊 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FitMind Score — 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92119" y="1080000"/>
            <a:ext cx="2268000" cy="162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64119" y="1188000"/>
            <a:ext cx="21240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6A1A"/>
                </a:solidFill>
              </a:rPr>
              <a:t>0–100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64119" y="1908000"/>
            <a:ext cx="2124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Composite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64119" y="2160000"/>
            <a:ext cx="2124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999793"/>
                </a:solidFill>
              </a:rPr>
              <a:t>7-day rolling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1080000"/>
            <a:ext cx="684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6A1A"/>
                </a:solidFill>
              </a:rPr>
              <a:t>Score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404000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🍎  Nutrition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4000" y="1447200"/>
            <a:ext cx="4500000" cy="216000"/>
          </a:xfrm>
          <a:prstGeom prst="rect">
            <a:avLst/>
          </a:prstGeom>
          <a:solidFill>
            <a:srgbClr val="2A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4000" y="1447200"/>
            <a:ext cx="4500000" cy="21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0" y="1404000"/>
            <a:ext cx="648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1907999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💪  Strength (workouts)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4000" y="1951199"/>
            <a:ext cx="4500000" cy="216000"/>
          </a:xfrm>
          <a:prstGeom prst="rect">
            <a:avLst/>
          </a:prstGeom>
          <a:solidFill>
            <a:srgbClr val="2A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4000" y="1951199"/>
            <a:ext cx="3600000" cy="21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0" y="1907999"/>
            <a:ext cx="648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2411998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🏃  Endurance (cardio)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4000" y="2455198"/>
            <a:ext cx="4500000" cy="216000"/>
          </a:xfrm>
          <a:prstGeom prst="rect">
            <a:avLst/>
          </a:prstGeom>
          <a:solidFill>
            <a:srgbClr val="2A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4000" y="2455198"/>
            <a:ext cx="3600000" cy="21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0" y="2411998"/>
            <a:ext cx="648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2915997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⚡  Agility &amp; flexibility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4000" y="2959197"/>
            <a:ext cx="4500000" cy="216000"/>
          </a:xfrm>
          <a:prstGeom prst="rect">
            <a:avLst/>
          </a:prstGeom>
          <a:solidFill>
            <a:srgbClr val="2A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4000" y="2959197"/>
            <a:ext cx="2700000" cy="21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0" y="2915997"/>
            <a:ext cx="648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000" y="3419996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💧  Hydration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4000" y="3463196"/>
            <a:ext cx="4500000" cy="216000"/>
          </a:xfrm>
          <a:prstGeom prst="rect">
            <a:avLst/>
          </a:prstGeom>
          <a:solidFill>
            <a:srgbClr val="2A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4000" y="3463196"/>
            <a:ext cx="1800000" cy="21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92000" y="3419996"/>
            <a:ext cx="648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10%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000" y="3923995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😴  Sleep quality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4000" y="3967195"/>
            <a:ext cx="4500000" cy="216000"/>
          </a:xfrm>
          <a:prstGeom prst="rect">
            <a:avLst/>
          </a:prstGeom>
          <a:solidFill>
            <a:srgbClr val="2A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84000" y="3967195"/>
            <a:ext cx="1800000" cy="21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92000" y="3923995"/>
            <a:ext cx="648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10%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000" y="4500000"/>
            <a:ext cx="1132811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999793"/>
                </a:solidFill>
              </a:rPr>
              <a:t>📐  Nightly calculation via Celery Beat  ·  numpy polyfit for trend slopes  ·  macro balance 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648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📐 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TDEE &amp; 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1080000"/>
            <a:ext cx="5580000" cy="306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2000" y="1080000"/>
            <a:ext cx="55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134000"/>
            <a:ext cx="5400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F6A1A"/>
                </a:solidFill>
              </a:rPr>
              <a:t>TDEE Calculation (Mifflin-St Jeor)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1475999"/>
            <a:ext cx="5400000" cy="25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♂  BMR = 10×kg  +  6.25×cm  −  5×age  +  5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♀  BMR = 10×kg  +  6.25×cm  −  5×age  −  161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× Activity multiplier (1.20 → 1.90)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   Sedentary: 1.20  |  Light: 1.375  |  Moderate: 1.55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   Active: 1.725  |  Very Active: 1.90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✓  Clamped to  1,200 – 5,000 kcal/day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2000" y="1080000"/>
            <a:ext cx="5580000" cy="306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2000" y="1080000"/>
            <a:ext cx="55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0" y="1134000"/>
            <a:ext cx="5400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FF6A1A"/>
                </a:solidFill>
              </a:rPr>
              <a:t>Feature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1475999"/>
            <a:ext cx="5400000" cy="25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📈  numpy polyfit → calorie trend slope (7 days)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⚖️  Macro balance score: protein/carbs/fat ratio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📅  Workout frequency adherence (vs. plan)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💧  Hydration adherence: actual vs. 35 ml/kg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😴  Sleep quality: 7–9 h = optimal range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🏅  Completion rate: logged sets ÷ planned 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320000"/>
            <a:ext cx="1132811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999793"/>
                </a:solidFill>
              </a:rPr>
              <a:t>🔄  All features computed nightly  ·  fed into FitMind Score  ·  stored per user per day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1152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108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🔧 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6000" y="1080000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000" y="1134000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152000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1422000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Backend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8029" y="1080000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4029" y="1134000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48029" y="1152000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8029" y="1422000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Primary DB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0059" y="1080000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6059" y="1134000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059" y="1152000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Redis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0059" y="1422000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Cache &amp; Broker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2089" y="1080000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8089" y="1134000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2089" y="1152000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Celery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2089" y="1422000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Task Queue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6000" y="2195999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000" y="2249999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6000" y="2267999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Flutter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6000" y="2537999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Mobile (iOS+Android)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8029" y="2195999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4029" y="2249999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48029" y="2267999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Firebase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48029" y="2537999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Push Notifications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50059" y="2195999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6059" y="2249999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0059" y="2267999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Qwen 235B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0059" y="2537999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AI Plan Gen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82089" y="2195999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8089" y="2249999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2089" y="2267999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Qwen2.5-VL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2089" y="2537999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Meal Vision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6000" y="3311998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000" y="3365998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6000" y="3383998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Groq Whisper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6000" y="3653998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Voice STT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18029" y="3311998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44029" y="3365998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48029" y="3383998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ChromaDB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48029" y="3653998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Vector DB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50059" y="3311998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6059" y="3365998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80059" y="3383998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Docker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0059" y="3653998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Deployment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82089" y="3311998"/>
            <a:ext cx="2724029" cy="1007999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08089" y="3365998"/>
            <a:ext cx="503999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12089" y="3383998"/>
            <a:ext cx="2040029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A1A"/>
                </a:solidFill>
              </a:rPr>
              <a:t>Next.js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2089" y="3653998"/>
            <a:ext cx="2040029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999793"/>
                </a:solidFill>
              </a:rPr>
              <a:t>Landing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936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864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✅ 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Testing &amp;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1080000"/>
            <a:ext cx="2700000" cy="90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1152000"/>
            <a:ext cx="259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6A1A"/>
                </a:solidFill>
              </a:rPr>
              <a:t>48+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999" y="1548000"/>
            <a:ext cx="259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999793"/>
                </a:solidFill>
              </a:rPr>
              <a:t>unit &amp; 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1080000"/>
            <a:ext cx="2700000" cy="90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1999" y="1152000"/>
            <a:ext cx="259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6A1A"/>
                </a:solidFill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1548000"/>
            <a:ext cx="259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999793"/>
                </a:solidFill>
              </a:rPr>
              <a:t>core module coverage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8000" y="1080000"/>
            <a:ext cx="2700000" cy="90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9999" y="1152000"/>
            <a:ext cx="259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6A1A"/>
                </a:solidFill>
              </a:rPr>
              <a:t>20+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9999" y="1548000"/>
            <a:ext cx="259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999793"/>
                </a:solidFill>
              </a:rPr>
              <a:t>AI plans manually reviewed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56000" y="1080000"/>
            <a:ext cx="2700000" cy="90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27999" y="1152000"/>
            <a:ext cx="259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6A1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7999" y="1548000"/>
            <a:ext cx="259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999793"/>
                </a:solidFill>
              </a:rPr>
              <a:t>platforms tested on-device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2160000"/>
            <a:ext cx="5580000" cy="2592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2000" y="2160000"/>
            <a:ext cx="36000" cy="2592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2214000"/>
            <a:ext cx="54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Test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2520000"/>
            <a:ext cx="5400000" cy="20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600">
                <a:solidFill>
                  <a:srgbClr val="FFFFFF"/>
                </a:solidFill>
              </a:rPr>
              <a:t>🧪  Unit — auth, tracking, planning, coaching (mocked)</a:t>
            </a:r>
          </a:p>
          <a:p>
            <a:pPr algn="l">
              <a:spcBef>
                <a:spcPts val="500"/>
              </a:spcBef>
            </a:pPr>
            <a:r>
              <a:rPr sz="1600">
                <a:solidFill>
                  <a:srgbClr val="FFFFFF"/>
                </a:solidFill>
              </a:rPr>
              <a:t>🔗  Integration — FastAPI TestClient + real PostgreSQL</a:t>
            </a:r>
          </a:p>
          <a:p>
            <a:pPr algn="l">
              <a:spcBef>
                <a:spcPts val="500"/>
              </a:spcBef>
            </a:pPr>
            <a:r>
              <a:rPr sz="1600">
                <a:solidFill>
                  <a:srgbClr val="FFFFFF"/>
                </a:solidFill>
              </a:rPr>
              <a:t>🤖  AI Safety — diabetic, knee injury, asthma profiles</a:t>
            </a:r>
          </a:p>
          <a:p>
            <a:pPr algn="l">
              <a:spcBef>
                <a:spcPts val="500"/>
              </a:spcBef>
            </a:pPr>
            <a:r>
              <a:rPr sz="1600">
                <a:solidFill>
                  <a:srgbClr val="FFFFFF"/>
                </a:solidFill>
              </a:rPr>
              <a:t>📱  E2E — signup → plan → log → score (physical device)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2000" y="2160000"/>
            <a:ext cx="5580000" cy="2592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2000" y="2160000"/>
            <a:ext cx="36000" cy="2592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000" y="2214000"/>
            <a:ext cx="54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AI Plan 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000" y="2520000"/>
            <a:ext cx="5400000" cy="20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600">
                <a:solidFill>
                  <a:srgbClr val="FFFFFF"/>
                </a:solidFill>
              </a:rPr>
              <a:t>✅  Macro targets within ±5% of TDEE for 95% of plans</a:t>
            </a:r>
          </a:p>
          <a:p>
            <a:pPr algn="l">
              <a:spcBef>
                <a:spcPts val="500"/>
              </a:spcBef>
            </a:pPr>
            <a:r>
              <a:rPr sz="1600">
                <a:solidFill>
                  <a:srgbClr val="FFFFFF"/>
                </a:solidFill>
              </a:rPr>
              <a:t>🔒  All allergy-flagged foods removed — 100% deterministic</a:t>
            </a:r>
          </a:p>
          <a:p>
            <a:pPr algn="l">
              <a:spcBef>
                <a:spcPts val="500"/>
              </a:spcBef>
            </a:pPr>
            <a:r>
              <a:rPr sz="1600">
                <a:solidFill>
                  <a:srgbClr val="FFFFFF"/>
                </a:solidFill>
              </a:rPr>
              <a:t>⚕️  Health condition safety rules verified manually</a:t>
            </a:r>
          </a:p>
          <a:p>
            <a:pPr algn="l">
              <a:spcBef>
                <a:spcPts val="500"/>
              </a:spcBef>
            </a:pPr>
            <a:r>
              <a:rPr sz="1600">
                <a:solidFill>
                  <a:srgbClr val="FFFFFF"/>
                </a:solidFill>
              </a:rPr>
              <a:t>📋  Structured JSON output validated on every generation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2000" y="162000"/>
            <a:ext cx="864000" cy="234000"/>
          </a:xfrm>
          <a:prstGeom prst="roundRect">
            <a:avLst>
              <a:gd name="adj" fmla="val 8000"/>
            </a:avLst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62000"/>
            <a:ext cx="792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🔮 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450000"/>
            <a:ext cx="11328119" cy="4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Future 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972000"/>
            <a:ext cx="1080000" cy="288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72119" y="6552000"/>
            <a:ext cx="61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999793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1080000"/>
            <a:ext cx="5376059" cy="234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2000" y="1080000"/>
            <a:ext cx="5376059" cy="3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1152000"/>
            <a:ext cx="50399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508805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AI Chatbot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1817999"/>
            <a:ext cx="5088059" cy="15120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Real-time Q&amp;A inside the app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Context-aware — knows your full profile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Ask anything: diet, form, plan adjustments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0058" y="1080000"/>
            <a:ext cx="5376059" cy="234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0058" y="1080000"/>
            <a:ext cx="5376059" cy="3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4058" y="1152000"/>
            <a:ext cx="50399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</a:rPr>
              <a:t>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4058" y="1512000"/>
            <a:ext cx="508805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Wearable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4058" y="1817999"/>
            <a:ext cx="5088059" cy="15120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Auto-sync Apple Watch &amp; Samsung Galaxy Watch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Heart rate, steps, sleep — auto-collected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Eliminates manual sleep &amp; step logging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600000"/>
            <a:ext cx="5376059" cy="234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000" y="3600000"/>
            <a:ext cx="5376059" cy="3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" y="3672000"/>
            <a:ext cx="50399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4032000"/>
            <a:ext cx="508805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Arabic Language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00" y="4337999"/>
            <a:ext cx="5088059" cy="15120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Full Arabic UI with RTL layout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Localized Egyptian &amp; MENA food database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Supports AR and RTL — dataset currently in 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60058" y="3600000"/>
            <a:ext cx="5376059" cy="2340000"/>
          </a:xfrm>
          <a:prstGeom prst="roundRect">
            <a:avLst>
              <a:gd name="adj" fmla="val 8000"/>
            </a:avLst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60058" y="3600000"/>
            <a:ext cx="5376059" cy="36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4058" y="3672000"/>
            <a:ext cx="503999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</a:rPr>
              <a:t>👨‍⚕️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4058" y="4032000"/>
            <a:ext cx="5088059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F6A1A"/>
                </a:solidFill>
              </a:rPr>
              <a:t>Coach Marketplace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4058" y="4337999"/>
            <a:ext cx="5088059" cy="15120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Platform for certified coaches &amp; nutritionists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Client progress monitoring dashboard</a:t>
            </a:r>
          </a:p>
          <a:p>
            <a:pPr algn="l">
              <a:spcBef>
                <a:spcPts val="500"/>
              </a:spcBef>
            </a:pPr>
            <a:r>
              <a:rPr sz="1500">
                <a:solidFill>
                  <a:srgbClr val="FFFFFF"/>
                </a:solidFill>
              </a:rPr>
              <a:t>• Professional service monetization layer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FF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1260000"/>
            <a:ext cx="1118412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2808000"/>
            <a:ext cx="1118412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0">
                <a:solidFill>
                  <a:srgbClr val="FF6A1A"/>
                </a:solidFill>
              </a:rPr>
              <a:t>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3528000"/>
            <a:ext cx="6480000" cy="25200"/>
          </a:xfrm>
          <a:prstGeom prst="rect">
            <a:avLst/>
          </a:prstGeom>
          <a:solidFill>
            <a:srgbClr val="201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3999" y="3636000"/>
            <a:ext cx="1118412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999793"/>
                </a:solidFill>
              </a:rPr>
              <a:t>Mohamed Taha  ·  Medhat Ahmed  ·  Ahmed Saber  ·  Mohammed Gamal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3960000"/>
            <a:ext cx="1118412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99793"/>
                </a:solidFill>
              </a:rPr>
              <a:t>Dr. Osama Ismail  ·  TA. Doaa Ghaleb  ·  Cairo University FCAI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