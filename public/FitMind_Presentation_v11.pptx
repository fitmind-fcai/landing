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.png"/><Relationship Id="rId1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30.png"/><Relationship Id="rId8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31.png"/><Relationship Id="rId12" Type="http://schemas.openxmlformats.org/officeDocument/2006/relationships/image" Target="../media/image25.png"/><Relationship Id="rId13" Type="http://schemas.openxmlformats.org/officeDocument/2006/relationships/image" Target="../media/image32.png"/><Relationship Id="rId1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601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79" y="1571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Same plan for every user, any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403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403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805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819" y="15717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203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Unsafe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03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Conditions &amp; allergies routinely ignored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07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07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009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859" y="1571760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407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07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Shows data — never turns it into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47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6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9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03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Beginners and elite athletes get the identical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9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472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466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One wrong recommendation can aggravate an injury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522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5352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4000" y="529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Motivation fades without anyone checking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10152000" cy="50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/>
                <a:gridCol w="1260000"/>
                <a:gridCol w="1260000"/>
                <a:gridCol w="1296000"/>
                <a:gridCol w="1944000"/>
                <a:gridCol w="1296000"/>
              </a:tblGrid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Vora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Fitbit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Samsung Health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Zing Coach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20E"/>
                          </a:solidFill>
                        </a:rPr>
                        <a:t>Wearable &amp; Biometric Sync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AEAE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20E"/>
                          </a:solidFill>
                        </a:rPr>
                        <a:t>Live Form-Check (Vision)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AEAE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534000"/>
            <a:ext cx="11328119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Shaded rows: capabilities where FitMind currently trails — included so the comparison cuts both 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Checked hourly, sent at your hour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tip, straight to your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Computed live from your last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999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78" y="1572479"/>
            <a:ext cx="149039" cy="1490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29623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1467900"/>
            <a:ext cx="178200" cy="178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Account &amp; Onboarding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3623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3623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9622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rg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102" y="1572479"/>
            <a:ext cx="149039" cy="1490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531247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1467900"/>
            <a:ext cx="178200" cy="178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41623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1623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Health Assessment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5247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47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61246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umbbel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726" y="1572479"/>
            <a:ext cx="149039" cy="1490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32871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1467900"/>
            <a:ext cx="178200" cy="178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43247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247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Workout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6871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6871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62870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pp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350" y="1572479"/>
            <a:ext cx="149039" cy="14903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134495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1467900"/>
            <a:ext cx="178200" cy="178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44871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4871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Nutrition Plans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38495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38495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764494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mer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6973" y="1572479"/>
            <a:ext cx="149039" cy="14903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1436119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1467900"/>
            <a:ext cx="178200" cy="178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46495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6495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Meal Logging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000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000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7999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ctivity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478" y="3228478"/>
            <a:ext cx="149039" cy="14903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229623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3123899"/>
            <a:ext cx="178200" cy="178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40000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Workout Logging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3623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33623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859622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roplet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2102" y="3228478"/>
            <a:ext cx="149039" cy="149039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31247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3123899"/>
            <a:ext cx="178200" cy="1782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841623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1623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Hydration &amp; Weight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35247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35247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61246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moon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3726" y="3228478"/>
            <a:ext cx="149039" cy="149039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832871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3123899"/>
            <a:ext cx="178200" cy="178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43247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3247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Sleep Tracking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36871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36871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62870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hart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5350" y="3228478"/>
            <a:ext cx="149039" cy="149039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9134495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3123899"/>
            <a:ext cx="178200" cy="1782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44871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4871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FitMind Score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38495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38495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764494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chat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6973" y="3228478"/>
            <a:ext cx="149039" cy="149039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1436119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3123899"/>
            <a:ext cx="178200" cy="1782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746495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46495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Daily &amp; Weekly Coaching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All ten shipped and covered in the sections that follow — this slide is the traceability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Fitness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AI Coach or Plan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chat message or plan-generation call comes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scraped guideline articles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Dense embeddings over the same 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ACSM · NSCA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WHO · ISSN · IOC · NIH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20 + 20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BM25 + dense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rankers fused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</a:rPr>
              <a:t>Feeds AI Coach chat &amp; plan generation — food lookup itself is separate (SQL + pgvector).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2268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368000"/>
            <a:ext cx="241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142000"/>
            <a:ext cx="24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430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Last 7 days of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119" y="2646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Rule-based, no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6119" y="2862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Computed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e.g. Nutrition = logging consistency (40%) + calorie adherence (35%) + protein adherence (25%)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BMR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Men:    10×kg + 6.25×cm − 5×age + 5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Women:  10×kg + 6.25×cm − 5×age − 161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Goal delta: +450 kcal to build muscle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−400 kcal to lose weight, +0 to maintain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ctivit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Activity &amp;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Sedentary ×1.20  ·  Light ×1.375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Moderate ×1.55  ·  Active ×1.725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Very active ×1.90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Trend Slopes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numpy polyfit fits a line through daily values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Calorie trend — is intake rising or falling?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Volume trend — progressing or plateaued?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Macro Balance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Actual protein/carb/fat % vs. plan target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Score = 100 − total macro deviation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Catches "right calories, wrong macros"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60" y="4654654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Exercise Progressions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Per-lift: first session vs. most recent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e.g. "Bench Press +18%" this month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Sorted so the biggest movers surface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818" y="4654654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Consistency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Calories 40% + frequency 40% + logging 20%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On track at ≥65% (and ≥75% on calories)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Gates whether coaching messages send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WEEKLY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Weekly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Sunday, 09:00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Celery Beat triggers for every opted-in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7-Day Feature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Same engineering pipeline, scoped to the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LLM Writes the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Assessment, wins, improvement areas,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Delivered &amp;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Push notification + a persisted coaching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60000"/>
            <a:ext cx="5484059" cy="266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igm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On-Track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59" y="1980000"/>
            <a:ext cx="5124059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Consistency = 40% calories + 40% frequency + 20% logging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On track when consistency ≥ 65%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...and calorie adherence ≥ 75% too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4068000"/>
            <a:ext cx="5484059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4059" y="4158000"/>
            <a:ext cx="526805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6A1A"/>
                </a:solidFill>
              </a:rPr>
              <a:t>"Your Weekly Progress Report"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4059" y="4716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the actual push notification title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re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Postman suite covers every REST endpoint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Environment configs per deployment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Manual + semi-automated request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2059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2059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4059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19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2059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Output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4059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Synthetic profiles — goals &amp; conditions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Rubric checks — allergen safety, fit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Every plan scored before it 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364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No CI pipeline runs yet — API and AI-output checks are run manually ahead of each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mb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Full Arabic Workouts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Plans already generate in Arabic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Exercise library not fully localized yet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