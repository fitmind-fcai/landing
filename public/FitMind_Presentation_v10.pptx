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7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3.png"/><Relationship Id="rId13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8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0.png"/><Relationship Id="rId8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27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28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0.png"/><Relationship Id="rId4" Type="http://schemas.openxmlformats.org/officeDocument/2006/relationships/image" Target="../media/image26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30.png"/><Relationship Id="rId8" Type="http://schemas.openxmlformats.org/officeDocument/2006/relationships/image" Target="../media/image4.png"/><Relationship Id="rId9" Type="http://schemas.openxmlformats.org/officeDocument/2006/relationships/image" Target="../media/image8.png"/><Relationship Id="rId10" Type="http://schemas.openxmlformats.org/officeDocument/2006/relationships/image" Target="../media/image7.png"/><Relationship Id="rId11" Type="http://schemas.openxmlformats.org/officeDocument/2006/relationships/image" Target="../media/image31.png"/><Relationship Id="rId12" Type="http://schemas.openxmlformats.org/officeDocument/2006/relationships/image" Target="../media/image25.png"/><Relationship Id="rId13" Type="http://schemas.openxmlformats.org/officeDocument/2006/relationships/image" Target="../media/image32.png"/><Relationship Id="rId14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17.png"/><Relationship Id="rId4" Type="http://schemas.openxmlformats.org/officeDocument/2006/relationships/image" Target="../media/image30.png"/><Relationship Id="rId5" Type="http://schemas.openxmlformats.org/officeDocument/2006/relationships/image" Target="../media/image5.png"/><Relationship Id="rId6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36120" y="576000"/>
            <a:ext cx="1007999" cy="1007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679" y="898559"/>
            <a:ext cx="362879" cy="362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000" y="2052000"/>
            <a:ext cx="11040119" cy="15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0" b="1">
                <a:solidFill>
                  <a:srgbClr val="14120E"/>
                </a:solidFill>
              </a:rPr>
              <a:t>FitMind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" y="3564000"/>
            <a:ext cx="11040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F6A1A"/>
                </a:solidFill>
              </a:rPr>
              <a:t>AI-Powered Fitness &amp; Nutrition Companion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000" y="4194000"/>
            <a:ext cx="7200000" cy="252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00" y="4338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</a:rPr>
              <a:t>Mohamed Taha  ·  Medhat Ahmed  ·  Ahmed Saber  ·  Mohammed Gamal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" y="4644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666666"/>
                </a:solidFill>
              </a:rPr>
              <a:t>Dr. Osama Ismail  ·  TA. Doaa Ghaleb  ·  Cairo University FCAI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arnin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The Fitness App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3536039" cy="19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39600" cy="19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66019" y="14220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779" y="15717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1998000"/>
            <a:ext cx="332003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6A1A"/>
                </a:solidFill>
              </a:rPr>
              <a:t>Generic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" y="2502000"/>
            <a:ext cx="317603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4120E"/>
                </a:solidFill>
              </a:rPr>
              <a:t>Same plan for every user, any goal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84039" y="1260000"/>
            <a:ext cx="3536039" cy="19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4039" y="1260000"/>
            <a:ext cx="39600" cy="19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18059" y="14220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arnin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819" y="15717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92039" y="1998000"/>
            <a:ext cx="332003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6A1A"/>
                </a:solidFill>
              </a:rPr>
              <a:t>Unsafe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4039" y="2502000"/>
            <a:ext cx="317603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4120E"/>
                </a:solidFill>
              </a:rPr>
              <a:t>Conditions &amp; allergies routinely ignored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36079" y="1260000"/>
            <a:ext cx="3536039" cy="19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36079" y="1260000"/>
            <a:ext cx="39600" cy="19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70099" y="14220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859" y="1571760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44079" y="1998000"/>
            <a:ext cx="332003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6A1A"/>
                </a:solidFill>
              </a:rPr>
              <a:t>Passive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6079" y="2502000"/>
            <a:ext cx="317603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4120E"/>
                </a:solidFill>
              </a:rPr>
              <a:t>Shows data — never turns it into advice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3474000"/>
            <a:ext cx="11328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4120E"/>
                </a:solidFill>
              </a:rPr>
              <a:t>Every user gets the same generic plan — no adaptation, no safety.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96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har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79" y="4092479"/>
            <a:ext cx="149039" cy="14903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54000" y="4032000"/>
            <a:ext cx="10752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14120E"/>
                </a:solidFill>
              </a:rPr>
              <a:t>Beginners and elite athletes get the identical plan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000" y="459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warnin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79" y="4722479"/>
            <a:ext cx="149039" cy="14903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4000" y="4662000"/>
            <a:ext cx="10752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14120E"/>
                </a:solidFill>
              </a:rPr>
              <a:t>One wrong recommendation can aggravate an injury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000" y="522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479" y="5352479"/>
            <a:ext cx="149039" cy="14903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54000" y="5292000"/>
            <a:ext cx="10752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14120E"/>
                </a:solidFill>
              </a:rPr>
              <a:t>Motivation fades without anyone checking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ophy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COMPETITORS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How FitMind Compares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1260000"/>
          <a:ext cx="10152000" cy="50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000"/>
                <a:gridCol w="1260000"/>
                <a:gridCol w="1260000"/>
                <a:gridCol w="1296000"/>
                <a:gridCol w="1944000"/>
                <a:gridCol w="1296000"/>
              </a:tblGrid>
              <a:tr h="500400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FitMind</a:t>
                      </a:r>
                    </a:p>
                  </a:txBody>
                  <a:tcPr>
                    <a:solidFill>
                      <a:srgbClr val="FF6A1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Vora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Fitbit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Samsung Health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Zing Coach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004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120E"/>
                          </a:solidFill>
                        </a:rPr>
                        <a:t>AI Workout Plans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004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120E"/>
                          </a:solidFill>
                        </a:rPr>
                        <a:t>AI Nutrition Plans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004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120E"/>
                          </a:solidFill>
                        </a:rPr>
                        <a:t>Camera Meal Scan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004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120E"/>
                          </a:solidFill>
                        </a:rPr>
                        <a:t>Voice Logging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004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120E"/>
                          </a:solidFill>
                        </a:rPr>
                        <a:t>Daily AI Coaching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004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120E"/>
                          </a:solidFill>
                        </a:rPr>
                        <a:t>Condition Safety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004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120E"/>
                          </a:solidFill>
                        </a:rPr>
                        <a:t>Unified Fitness Score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004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4120E"/>
                          </a:solidFill>
                        </a:rPr>
                        <a:t>Wearable &amp; Biometric Sync</a:t>
                      </a:r>
                    </a:p>
                  </a:txBody>
                  <a:tcPr>
                    <a:solidFill>
                      <a:srgbClr val="F3F3F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AEAE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3F3F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3F3F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3F3F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3F3F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004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4120E"/>
                          </a:solidFill>
                        </a:rPr>
                        <a:t>Live Form-Check (Vision)</a:t>
                      </a:r>
                    </a:p>
                  </a:txBody>
                  <a:tcPr>
                    <a:solidFill>
                      <a:srgbClr val="F3F3F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AEAE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3F3F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3F3F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3F3F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3F3F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000" y="6534000"/>
            <a:ext cx="11328119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Shaded rows: capabilities where FitMind currently trails — included so the comparison cuts both ways.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p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Introducing FitMind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Personalized AI 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17-question health assessment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Injuries, allergies &amp; meds included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0058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0058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2058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mer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818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0058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Multimodal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2058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Camera scan → macros instantly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Voice log → hands-free tracking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000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obo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60" y="4198462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2000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Daily AI Coaching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000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Checked hourly, sent at your hour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One AI tip, straight to your phone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0058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0058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22058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ar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818" y="4198462"/>
            <a:ext cx="168480" cy="168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80058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Unified Fitness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2058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0–100 across 6 health areas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Computed live from your last 7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Functional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96000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96000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999" y="144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c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78" y="1572479"/>
            <a:ext cx="149039" cy="14903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229623" y="1458000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9523" y="1467900"/>
            <a:ext cx="178200" cy="178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0000" y="1926000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106000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Account &amp; Onboarding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33623" y="1296000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33623" y="1296000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59622" y="144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arge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2102" y="1572479"/>
            <a:ext cx="149039" cy="149039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531247" y="1458000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147" y="1467900"/>
            <a:ext cx="178200" cy="178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841623" y="1926000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41623" y="2106000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Health Assessment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35247" y="1296000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35247" y="1296000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161246" y="144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umbbell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3726" y="1572479"/>
            <a:ext cx="149039" cy="149039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832871" y="1458000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771" y="1467900"/>
            <a:ext cx="178200" cy="178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143247" y="1926000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3247" y="2106000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AI Workout Plans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36871" y="1296000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36871" y="1296000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62870" y="144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appl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5350" y="1572479"/>
            <a:ext cx="149039" cy="149039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9134495" y="1458000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395" y="1467900"/>
            <a:ext cx="178200" cy="178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44871" y="1926000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4871" y="2106000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AI Nutrition Plans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38495" y="1296000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38495" y="1296000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764494" y="144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amera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6973" y="1572479"/>
            <a:ext cx="149039" cy="149039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11436119" y="1458000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6019" y="1467900"/>
            <a:ext cx="178200" cy="1782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746495" y="1926000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46495" y="2106000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Meal Logging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2000" y="2951999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000" y="2951999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57999" y="3095999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activity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478" y="3228478"/>
            <a:ext cx="149039" cy="149039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2229623" y="3113999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9523" y="3123899"/>
            <a:ext cx="178200" cy="1782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40000" y="3581999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0000" y="3761999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Workout Logging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33623" y="2951999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33623" y="2951999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859622" y="3095999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droplet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92102" y="3228478"/>
            <a:ext cx="149039" cy="149039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4531247" y="3113999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147" y="3123899"/>
            <a:ext cx="178200" cy="1782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841623" y="3581999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41623" y="3761999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Hydration &amp; Weight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35247" y="2951999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35247" y="2951999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161246" y="3095999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moon-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93726" y="3228478"/>
            <a:ext cx="149039" cy="149039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6832871" y="3113999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771" y="3123899"/>
            <a:ext cx="178200" cy="1782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143247" y="3581999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43247" y="3761999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Sleep Tracking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36871" y="2951999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36871" y="2951999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462870" y="3095999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chart-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95350" y="3228478"/>
            <a:ext cx="149039" cy="149039"/>
          </a:xfrm>
          <a:prstGeom prst="rect">
            <a:avLst/>
          </a:prstGeom>
        </p:spPr>
      </p:pic>
      <p:sp>
        <p:nvSpPr>
          <p:cNvPr id="76" name="Rounded Rectangle 75"/>
          <p:cNvSpPr/>
          <p:nvPr/>
        </p:nvSpPr>
        <p:spPr>
          <a:xfrm>
            <a:off x="9134495" y="3113999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395" y="3123899"/>
            <a:ext cx="178200" cy="1782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7444871" y="3581999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44871" y="3761999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FitMind Score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638495" y="2951999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638495" y="2951999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764494" y="3095999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chat-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96973" y="3228478"/>
            <a:ext cx="149039" cy="149039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11436119" y="3113999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6019" y="3123899"/>
            <a:ext cx="178200" cy="17820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9746495" y="3581999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FR-10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46495" y="3761999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Daily &amp; Weekly Coaching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2000" y="6516000"/>
            <a:ext cx="11328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All ten shipped and covered in the sections that follow — this slide is the traceability map.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ayer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6</a:t>
            </a:r>
          </a:p>
        </p:txBody>
      </p:sp>
      <p:pic>
        <p:nvPicPr>
          <p:cNvPr id="8" name="Picture 7" descr="arch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207" y="1260000"/>
            <a:ext cx="8091703" cy="53820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pu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AI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Plan Generation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ser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20" y="1419120"/>
            <a:ext cx="293760" cy="293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3600" y="1872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000" y="1267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1.  User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00" y="1591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Assessment answers feed the TDEE targets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196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bo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0" y="2355120"/>
            <a:ext cx="293760" cy="293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3600" y="2808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000" y="2203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2.  Generate — Qwen 235B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2000" y="2527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Targets, safety rules &amp; food IDs combined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132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hield-check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20" y="3291120"/>
            <a:ext cx="293760" cy="293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23600" y="3744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2000" y="3139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3.  Judge — gpt-4o-mini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2000" y="3463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Checks the plan for safety and format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4068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wrench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20" y="4227120"/>
            <a:ext cx="293760" cy="29376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23600" y="4680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42000" y="4075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4.  Fix Once (if needed)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2000" y="4399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One repair pass if the judge flags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000" y="5004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ck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120" y="5163120"/>
            <a:ext cx="293760" cy="293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42000" y="5011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5.  Allergy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2000" y="5335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Removes any allergy-flagged foods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6059" y="1260000"/>
            <a:ext cx="5484059" cy="3096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651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38059" y="1404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igma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0539" y="1536479"/>
            <a:ext cx="149039" cy="14903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42059" y="1458000"/>
            <a:ext cx="4692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</a:rPr>
              <a:t>Three-Channel System Prompt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6059" y="2015999"/>
            <a:ext cx="5124059" cy="201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14120E"/>
                </a:solidFill>
              </a:rPr>
              <a:t>•  P — deterministic TDEE targets</a:t>
            </a:r>
          </a:p>
          <a:p>
            <a:pPr algn="l">
              <a:spcBef>
                <a:spcPts val="2800"/>
              </a:spcBef>
            </a:pPr>
            <a:r>
              <a:rPr sz="1800">
                <a:solidFill>
                  <a:srgbClr val="14120E"/>
                </a:solidFill>
              </a:rPr>
              <a:t>•  C — condition-specific safety rules</a:t>
            </a:r>
          </a:p>
          <a:p>
            <a:pPr algn="l">
              <a:spcBef>
                <a:spcPts val="2800"/>
              </a:spcBef>
            </a:pPr>
            <a:r>
              <a:rPr sz="1800">
                <a:solidFill>
                  <a:srgbClr val="14120E"/>
                </a:solidFill>
              </a:rPr>
              <a:t>•  B — whitelisted food &amp; exercise IDs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76059" y="4500000"/>
            <a:ext cx="5484059" cy="111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4059" y="4626000"/>
            <a:ext cx="5268059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>
                <a:solidFill>
                  <a:srgbClr val="FF6A1A"/>
                </a:solidFill>
              </a:rPr>
              <a:t>1,200 – 5,000 kcal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4059" y="5058000"/>
            <a:ext cx="5268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666666"/>
                </a:solidFill>
              </a:rPr>
              <a:t>TDEE clamp range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r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Hybrid Search for Fitness 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96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ar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20" y="1455120"/>
            <a:ext cx="293760" cy="293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3600" y="1908000"/>
            <a:ext cx="288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000" y="1303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1.  AI Coach or Plan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00" y="1627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A chat message or plan-generation call comes 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448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is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20" y="2607120"/>
            <a:ext cx="293760" cy="293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3600" y="3060000"/>
            <a:ext cx="288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000" y="2455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2.  BM25 Okapi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2000" y="2779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Keyword scoring over scraped guideline articles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600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atabas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0" y="3759120"/>
            <a:ext cx="293760" cy="293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23600" y="4212000"/>
            <a:ext cx="288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2000" y="3607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3.  ChromaDB Semantic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2000" y="3931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Dense embeddings over the same knowledge 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4752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igma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20" y="4911120"/>
            <a:ext cx="293760" cy="293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42000" y="4759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4.  Reciprocal Rank Fusion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2000" y="5083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Rankings merged:  score = Σ 1/(k+rank),  k = 60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6059" y="1296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76059" y="1296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0059" y="1421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ACSM · NSCA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0059" y="1890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WHO · ISSN · IOC · NIH sources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6059" y="2448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76059" y="2448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0059" y="2573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20 + 20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0059" y="3042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BM25 + dense candidates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6059" y="3600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76059" y="3600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0059" y="3725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k = 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0059" y="4194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RRF constant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76059" y="4752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76059" y="4752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0059" y="4877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0059" y="5346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rankers fused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000" y="6516000"/>
            <a:ext cx="11328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>
                <a:solidFill>
                  <a:srgbClr val="666666"/>
                </a:solidFill>
              </a:rPr>
              <a:t>Feeds AI Coach chat &amp; plan generation — food lookup itself is separate (SQL + pgvector).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rt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FitMind Score — 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04119" y="1260000"/>
            <a:ext cx="2556000" cy="2268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905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76119" y="1368000"/>
            <a:ext cx="24120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800" b="1">
                <a:solidFill>
                  <a:srgbClr val="FF6A1A"/>
                </a:solidFill>
              </a:rPr>
              <a:t>0–100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76119" y="2142000"/>
            <a:ext cx="2412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4120E"/>
                </a:solidFill>
              </a:rPr>
              <a:t>Composite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6119" y="2430000"/>
            <a:ext cx="24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Last 7 days of 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76119" y="2646000"/>
            <a:ext cx="24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Rule-based, no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6119" y="2862000"/>
            <a:ext cx="24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Computed on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1260000"/>
            <a:ext cx="684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Score Components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1710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ppl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40" y="1819440"/>
            <a:ext cx="123120" cy="123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4000" y="1764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Nutrition 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1999" y="1789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1999" y="1789200"/>
            <a:ext cx="45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0000" y="1746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25%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2286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umb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40" y="2395440"/>
            <a:ext cx="123120" cy="1231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4000" y="2340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Strength (workouts)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1999" y="2365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11999" y="2365200"/>
            <a:ext cx="36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0" y="2322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20%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2862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activity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440" y="2971440"/>
            <a:ext cx="123120" cy="1231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4000" y="2916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Endurance (cardio)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1999" y="2941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11999" y="2941200"/>
            <a:ext cx="36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0000" y="2898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20%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000" y="3438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ol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440" y="3547440"/>
            <a:ext cx="123120" cy="1231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64000" y="3492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Agility &amp; flexibility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11999" y="3517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11999" y="3517200"/>
            <a:ext cx="27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20000" y="3474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15%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2000" y="4014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droplet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440" y="4123440"/>
            <a:ext cx="123120" cy="1231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64000" y="4068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Hydration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11999" y="4093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11999" y="4093200"/>
            <a:ext cx="18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20000" y="4050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10%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2000" y="4590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moon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440" y="4699440"/>
            <a:ext cx="123120" cy="1231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64000" y="4644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Sleep quality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11999" y="4669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11999" y="4669200"/>
            <a:ext cx="18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20000" y="4626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10%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2000" y="5436000"/>
            <a:ext cx="11328119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e.g. Nutrition = logging consistency (40%) + calorie adherence (35%) + protein adherence (25%)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gm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TDEE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580000" cy="334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580000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6000" y="1422000"/>
            <a:ext cx="432000" cy="43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igm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40" y="1560240"/>
            <a:ext cx="155520" cy="155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6000" y="1494000"/>
            <a:ext cx="468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4120E"/>
                </a:solidFill>
              </a:rPr>
              <a:t>BMR — Mifflin-St Jeor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" y="2052000"/>
            <a:ext cx="5220000" cy="24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50">
                <a:solidFill>
                  <a:srgbClr val="14120E"/>
                </a:solidFill>
              </a:rPr>
              <a:t>•  Men:    10×kg + 6.25×cm − 5×age + 5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Women:  10×kg + 6.25×cm − 5×age − 161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Goal delta: +450 kcal to build muscle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−400 kcal to lose weight, +0 to maintain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260000"/>
            <a:ext cx="5580000" cy="334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2000" y="1260000"/>
            <a:ext cx="5580000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6000" y="1422000"/>
            <a:ext cx="432000" cy="43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ctivity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240" y="1560240"/>
            <a:ext cx="155520" cy="155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76000" y="1494000"/>
            <a:ext cx="468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4120E"/>
                </a:solidFill>
              </a:rPr>
              <a:t>Activity &amp;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000" y="2052000"/>
            <a:ext cx="5220000" cy="24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50">
                <a:solidFill>
                  <a:srgbClr val="14120E"/>
                </a:solidFill>
              </a:rPr>
              <a:t>•  Sedentary ×1.20  ·  Light ×1.375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Moderate ×1.55  ·  Active ×1.725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Very active ×1.90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Clamped to 1,200 – 5,000 kcal / 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4716000"/>
            <a:ext cx="11340000" cy="972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905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000" y="4878000"/>
            <a:ext cx="503999" cy="50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arge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79" y="5039279"/>
            <a:ext cx="181439" cy="1814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24000" y="4860000"/>
            <a:ext cx="288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6A1A"/>
                </a:solidFill>
              </a:rPr>
              <a:t>Worked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4000" y="5130000"/>
            <a:ext cx="1044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0">
                <a:solidFill>
                  <a:srgbClr val="14120E"/>
                </a:solidFill>
              </a:rPr>
              <a:t>25yo male · 80 kg · 180 cm · moderate activity  →  TDEE ≈ 2,798 kcal / day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-up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Feature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376059" cy="284169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end-up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Trend Slopes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052059" cy="2031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numpy polyfit fits a line through daily values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Calorie trend — is intake rising or falling?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Volume trend — progressing or plateaued?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0058" y="1260000"/>
            <a:ext cx="5376059" cy="284169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0058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2058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ar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818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0058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Macro Balance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2058" y="1997999"/>
            <a:ext cx="5052059" cy="2031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Actual protein/carb/fat % vs. plan target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Score = 100 − total macro deviation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Catches "right calories, wrong macros"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4353694"/>
            <a:ext cx="5376059" cy="284169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4353694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000" y="4504894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umb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60" y="4654654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2000" y="4569694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Exercise Progressions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000" y="5091693"/>
            <a:ext cx="5052059" cy="2031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Per-lift: first session vs. most recent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e.g. "Bench Press +18%" this month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Sorted so the biggest movers surface first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0058" y="4353694"/>
            <a:ext cx="5376059" cy="284169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0058" y="4353694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22058" y="4504894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hield-check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818" y="4654654"/>
            <a:ext cx="168480" cy="168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80058" y="4569694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Consistency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2058" y="5091693"/>
            <a:ext cx="5052059" cy="2031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Calories 40% + frequency 40% + logging 20%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On track at ≥65% (and ≥75% on calories)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Gates whether coaching messages send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lendar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WEEKLY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Weekly Progress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lendar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20" y="1419120"/>
            <a:ext cx="293760" cy="293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3600" y="1872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000" y="1267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1.  Sunday, 09:00 UTC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00" y="1591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Celery Beat triggers for every opted-in 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196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rend-u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20" y="2355120"/>
            <a:ext cx="293760" cy="293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3600" y="2808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000" y="2203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2.  7-Day Feature Aggregation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2000" y="2527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Same engineering pipeline, scoped to the week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132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obo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0" y="3291120"/>
            <a:ext cx="293760" cy="293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23600" y="3744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2000" y="3139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3.  LLM Writes the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2000" y="3463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Assessment, wins, improvement areas, projection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4068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ell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20" y="4227120"/>
            <a:ext cx="293760" cy="293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42000" y="4075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4.  Delivered &amp; Saved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2000" y="4399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Push notification + a persisted coaching message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6059" y="1260000"/>
            <a:ext cx="5484059" cy="2664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651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38059" y="1404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igma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0539" y="1536479"/>
            <a:ext cx="149039" cy="14903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42059" y="1458000"/>
            <a:ext cx="4692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</a:rPr>
              <a:t>On-Track Formula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6059" y="1980000"/>
            <a:ext cx="5124059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Consistency = 40% calories + 40% frequency + 20% logging</a:t>
            </a:r>
          </a:p>
          <a:p>
            <a:pPr algn="l">
              <a:spcBef>
                <a:spcPts val="2200"/>
              </a:spcBef>
            </a:pPr>
            <a:r>
              <a:rPr sz="1650">
                <a:solidFill>
                  <a:srgbClr val="14120E"/>
                </a:solidFill>
              </a:rPr>
              <a:t>•  On track when consistency ≥ 65%</a:t>
            </a:r>
          </a:p>
          <a:p>
            <a:pPr algn="l">
              <a:spcBef>
                <a:spcPts val="2200"/>
              </a:spcBef>
            </a:pPr>
            <a:r>
              <a:rPr sz="1650">
                <a:solidFill>
                  <a:srgbClr val="14120E"/>
                </a:solidFill>
              </a:rPr>
              <a:t>•  ...and calorie adherence ≥ 75% too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6059" y="4068000"/>
            <a:ext cx="5484059" cy="1044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4059" y="4158000"/>
            <a:ext cx="526805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6A1A"/>
                </a:solidFill>
              </a:rPr>
              <a:t>"Your Weekly Progress Report"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4059" y="4716000"/>
            <a:ext cx="5268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the actual push notification title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ren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000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pu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00" y="1731600"/>
            <a:ext cx="226800" cy="226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9999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9999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Backend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6029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62029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bas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629" y="1731600"/>
            <a:ext cx="226800" cy="226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82028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2028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Primary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8059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94059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is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659" y="1731600"/>
            <a:ext cx="226800" cy="226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14058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Redis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4058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Cache &amp; Broker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0089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26089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ctivity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7689" y="1731600"/>
            <a:ext cx="226800" cy="226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46088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Celery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6088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Task Queue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000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0000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hon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600" y="3153600"/>
            <a:ext cx="226800" cy="226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49999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Flutter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9999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Mobile app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6029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62029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ell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3629" y="3153600"/>
            <a:ext cx="226800" cy="226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182028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Firebase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82028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Push notifications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8059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94059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robot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5659" y="3153600"/>
            <a:ext cx="226800" cy="226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14058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Qwen 235B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14058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AI plan generation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0089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126089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amera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7689" y="3153600"/>
            <a:ext cx="226800" cy="2268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846088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Qwen2.5-VL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46088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Meal vision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4000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0000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mic-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600" y="4575600"/>
            <a:ext cx="226800" cy="2268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349999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Whisper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49999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Groq — voice-to-text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36029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462029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earch-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63629" y="4575600"/>
            <a:ext cx="226800" cy="2268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182028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ChromaDB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82028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Vector database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68059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294059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cloud-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5659" y="4575600"/>
            <a:ext cx="226800" cy="2268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014058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Docker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14058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Deployment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00089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26089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layers-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27689" y="4575600"/>
            <a:ext cx="226800" cy="2268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846088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Next.js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46088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Landing page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ield-chec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Testing &amp;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448059" cy="37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448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rench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8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API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124059" cy="29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14120E"/>
                </a:solidFill>
              </a:rPr>
              <a:t>•  Postman suite covers every REST endpoint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Environment configs per deployment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Manual + semi-automated request suites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2059" y="1260000"/>
            <a:ext cx="5448059" cy="37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2059" y="1260000"/>
            <a:ext cx="5448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4059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c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819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32059" y="1476000"/>
            <a:ext cx="458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AI Output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4059" y="1997999"/>
            <a:ext cx="5124059" cy="29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14120E"/>
                </a:solidFill>
              </a:rPr>
              <a:t>•  Synthetic profiles — goals &amp; conditions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Rubric checks — allergen safety, fit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Every plan scored before it ships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5364000"/>
            <a:ext cx="11328119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No CI pipeline runs yet — API and AI-output checks are run manually ahead of each release.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-up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Future 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AI Chatbot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Real-time Q&amp;A on your plan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Aware of your full health 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0058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0058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2058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hon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818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0058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Wearables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2058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Auto-synced Apple &amp; Galaxy Watch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Heart rate, steps &amp; sleep, live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000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rophy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60" y="4198462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2000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Social &amp; Community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000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Friend challenges and leaderboards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Shared progress boards, opt-in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0058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0058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22058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users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818" y="4198462"/>
            <a:ext cx="168480" cy="168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80058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Coach Marketplace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2058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Coaches manage real clients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Shared client progress dashboard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36120" y="576000"/>
            <a:ext cx="1007999" cy="1007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ck-circle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679" y="898559"/>
            <a:ext cx="362879" cy="362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000" y="2052000"/>
            <a:ext cx="11040119" cy="15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0" b="1">
                <a:solidFill>
                  <a:srgbClr val="14120E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" y="3564000"/>
            <a:ext cx="11040119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6A1A"/>
                </a:solidFill>
              </a:rP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000" y="4194000"/>
            <a:ext cx="7200000" cy="252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00" y="4338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</a:rPr>
              <a:t>Mohamed Taha  ·  Medhat Ahmed  ·  Ahmed Saber  ·  Mohammed Gamal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" y="4644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666666"/>
                </a:solidFill>
              </a:rPr>
              <a:t>Dr. Osama Ismail  ·  TA. Doaa Ghaleb  ·  Cairo University FCAI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