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7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.png"/><Relationship Id="rId13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0.png"/><Relationship Id="rId8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27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28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30.png"/><Relationship Id="rId8" Type="http://schemas.openxmlformats.org/officeDocument/2006/relationships/image" Target="../media/image4.png"/><Relationship Id="rId9" Type="http://schemas.openxmlformats.org/officeDocument/2006/relationships/image" Target="../media/image8.png"/><Relationship Id="rId10" Type="http://schemas.openxmlformats.org/officeDocument/2006/relationships/image" Target="../media/image7.png"/><Relationship Id="rId11" Type="http://schemas.openxmlformats.org/officeDocument/2006/relationships/image" Target="../media/image31.png"/><Relationship Id="rId12" Type="http://schemas.openxmlformats.org/officeDocument/2006/relationships/image" Target="../media/image25.png"/><Relationship Id="rId13" Type="http://schemas.openxmlformats.org/officeDocument/2006/relationships/image" Target="../media/image32.png"/><Relationship Id="rId1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36120" y="576000"/>
            <a:ext cx="1007999" cy="1007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79" y="898559"/>
            <a:ext cx="362879" cy="362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000" y="2052000"/>
            <a:ext cx="11040119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0" b="1">
                <a:solidFill>
                  <a:srgbClr val="14120E"/>
                </a:solidFill>
              </a:rPr>
              <a:t>FitMind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3564000"/>
            <a:ext cx="11040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F6A1A"/>
                </a:solidFill>
              </a:rPr>
              <a:t>AI-Powered Fitness &amp; Nutrition Companion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4194000"/>
            <a:ext cx="7200000" cy="25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00" y="4338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4644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The Fitness App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6601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779" y="15717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Generic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Same plan for every user, any goal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4039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4039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805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819" y="15717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92039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Unsafe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4039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Conditions &amp; allergies routinely ignored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079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36079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7009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859" y="1571760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44079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Passive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6079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Shows data — never turns it into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3474000"/>
            <a:ext cx="11328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Every user gets the same generic plan — no adaptation, no safety.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96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79" y="4092479"/>
            <a:ext cx="149039" cy="14903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4000" y="403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Beginners and elite athletes get the identical 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459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4722479"/>
            <a:ext cx="149039" cy="14903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4000" y="466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One wrong recommendation can aggravate an injury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522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79" y="5352479"/>
            <a:ext cx="149039" cy="14903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4000" y="529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Motivation fades without anyone checking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ophy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How FitMind Compares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260000"/>
          <a:ext cx="8892000" cy="48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/>
                <a:gridCol w="1404000"/>
                <a:gridCol w="1296000"/>
                <a:gridCol w="1764000"/>
                <a:gridCol w="1692000"/>
              </a:tblGrid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FitMind</a:t>
                      </a:r>
                    </a:p>
                  </a:txBody>
                  <a:tcPr>
                    <a:solidFill>
                      <a:srgbClr val="FF6A1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</a:rPr>
                        <a:t>Vora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</a:rPr>
                        <a:t>Freeletics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</a:rPr>
                        <a:t>Zing Coach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AI Workout Plans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AI Nutrition Plans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Camera Meal Scan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Voice Logging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Daily AI Coaching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Condition Safety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Unified Fitness Score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6462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Vora, Freeletics &amp; Zing Coach are the closest AI-first fitness coaches on the market.  Partial = feature exists but limited depth.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Introducing FitMind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Personalized AI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17-question health assessment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Injuries, allergies &amp; meds included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er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Multimodal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Camera scan → macros instantly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Voice log → hands-free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bo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60" y="4198462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Daily AI Coaching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Checked hourly, sent at your hour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One AI tip, straight to your phone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ar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18" y="4198462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Unified Fitness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0–100 across 6 health areas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Computed live from your last 7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999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78" y="1572479"/>
            <a:ext cx="149039" cy="14903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229623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523" y="1467900"/>
            <a:ext cx="178200" cy="178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000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Account &amp; Onboarding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33623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33623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59622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arge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2102" y="1572479"/>
            <a:ext cx="149039" cy="14903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531247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147" y="1467900"/>
            <a:ext cx="178200" cy="178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841623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1623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Health Assessment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35247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35247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61246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umbbell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3726" y="1572479"/>
            <a:ext cx="149039" cy="14903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832871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771" y="1467900"/>
            <a:ext cx="178200" cy="178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43247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3247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AI Workout Plans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36871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36871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62870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ppl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350" y="1572479"/>
            <a:ext cx="149039" cy="149039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134495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395" y="1467900"/>
            <a:ext cx="178200" cy="178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44871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4871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AI Nutrition Plans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38495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38495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764494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amera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6973" y="1572479"/>
            <a:ext cx="149039" cy="149039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11436119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019" y="1467900"/>
            <a:ext cx="178200" cy="1782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746495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46495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Meal Logging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2000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000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57999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activity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478" y="3228478"/>
            <a:ext cx="149039" cy="149039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2229623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523" y="3123899"/>
            <a:ext cx="178200" cy="1782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40000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0000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Workout Logging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33623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33623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859622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droplet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2102" y="3228478"/>
            <a:ext cx="149039" cy="149039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4531247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147" y="3123899"/>
            <a:ext cx="178200" cy="1782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841623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41623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Hydration &amp; Weight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35247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35247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161246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moon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3726" y="3228478"/>
            <a:ext cx="149039" cy="149039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6832871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771" y="3123899"/>
            <a:ext cx="178200" cy="1782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143247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43247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Sleep Tracking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36871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36871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462870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chart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5350" y="3228478"/>
            <a:ext cx="149039" cy="149039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9134495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395" y="3123899"/>
            <a:ext cx="178200" cy="1782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7444871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44871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FitMind Score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38495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38495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764494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chat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6973" y="3228478"/>
            <a:ext cx="149039" cy="149039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1436119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019" y="3123899"/>
            <a:ext cx="178200" cy="1782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746495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46495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Daily &amp; Weekly Coaching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2000" y="6516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All ten shipped and covered in the sections that follow — this slide is the traceability 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6</a:t>
            </a:r>
          </a:p>
        </p:txBody>
      </p:sp>
      <p:pic>
        <p:nvPicPr>
          <p:cNvPr id="8" name="Picture 7" descr="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207" y="1260000"/>
            <a:ext cx="8091703" cy="5382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pu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Plan Generation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1419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872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26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User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59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Assessment answers feed the TDEE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1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2355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2808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2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Generate — Qwen 235B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5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Targets, safety rules &amp; food IDs combined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13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hield-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3291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3744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13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Judge — gpt-4o-mini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46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Checks the plan for safety and format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06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rench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20" y="4227120"/>
            <a:ext cx="293760" cy="2937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23600" y="4680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2000" y="407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Fix Once (if needed)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2000" y="439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One repair pass if the judge flags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000" y="5004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ck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120" y="5163120"/>
            <a:ext cx="293760" cy="293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42000" y="5011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5.  Allergy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2000" y="5335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Removes any allergy-flagged foods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6059" y="1260000"/>
            <a:ext cx="5484059" cy="3096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38059" y="1404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igma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0539" y="1536479"/>
            <a:ext cx="149039" cy="14903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42059" y="1458000"/>
            <a:ext cx="4692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</a:rPr>
              <a:t>Three-Channel System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6059" y="2015999"/>
            <a:ext cx="5124059" cy="201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P — deterministic TDEE targets</a:t>
            </a:r>
          </a:p>
          <a:p>
            <a:pPr algn="l">
              <a:spcBef>
                <a:spcPts val="2800"/>
              </a:spcBef>
            </a:pPr>
            <a:r>
              <a:rPr sz="1800">
                <a:solidFill>
                  <a:srgbClr val="14120E"/>
                </a:solidFill>
              </a:rPr>
              <a:t>•  C — condition-specific safety rules</a:t>
            </a:r>
          </a:p>
          <a:p>
            <a:pPr algn="l">
              <a:spcBef>
                <a:spcPts val="2800"/>
              </a:spcBef>
            </a:pPr>
            <a:r>
              <a:rPr sz="1800">
                <a:solidFill>
                  <a:srgbClr val="14120E"/>
                </a:solidFill>
              </a:rPr>
              <a:t>•  B — whitelisted food &amp; exercise IDs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76059" y="4500000"/>
            <a:ext cx="5484059" cy="111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4059" y="4626000"/>
            <a:ext cx="5268059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FF6A1A"/>
                </a:solidFill>
              </a:rPr>
              <a:t>1,200 – 5,000 kcal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4059" y="5058000"/>
            <a:ext cx="5268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</a:rPr>
              <a:t>TDEE clamp range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Hybrid Search for Fitness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0" y="1455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908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3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AI Coach or Plan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6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 chat message or plan-generation call comes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44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is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2607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3060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45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BM25 Okapi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77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Keyword scoring over scraped guideline articles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60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3759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4212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60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ChromaDB Semantic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93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Dense embeddings over the same knowledge 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75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igm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4911120"/>
            <a:ext cx="293760" cy="293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2000" y="475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Reciprocal Rank 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2000" y="508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Rankings merged:  score = Σ 1/(k+rank),  k = 60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059" y="1296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6059" y="1296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0059" y="1421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ACSM · NSCA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0059" y="1890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WHO · ISSN · IOC · NIH sources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6059" y="2448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6059" y="2448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0059" y="2573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20 + 20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0059" y="3042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BM25 + dense candidates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6059" y="3600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76059" y="3600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0059" y="3725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k = 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0059" y="4194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RRF constant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6059" y="4752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6059" y="4752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0059" y="4877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0059" y="5346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rankers fused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6516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>
                <a:solidFill>
                  <a:srgbClr val="666666"/>
                </a:solidFill>
              </a:rPr>
              <a:t>Feeds AI Coach chat &amp; plan generation — food lookup itself is separate (SQL + pgvector).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FitMind Score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04119" y="1260000"/>
            <a:ext cx="2556000" cy="2268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76119" y="1368000"/>
            <a:ext cx="2412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800" b="1">
                <a:solidFill>
                  <a:srgbClr val="FF6A1A"/>
                </a:solidFill>
              </a:rPr>
              <a:t>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6119" y="2142000"/>
            <a:ext cx="2412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4120E"/>
                </a:solidFill>
              </a:rPr>
              <a:t>Composite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6119" y="2430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Last 7 days of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6119" y="2646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Rule-based, no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6119" y="2862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Computed on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260000"/>
            <a:ext cx="684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Score Components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1710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ppl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40" y="1819440"/>
            <a:ext cx="123120" cy="12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4000" y="1764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Nutrition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1999" y="1789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1999" y="1789200"/>
            <a:ext cx="45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0" y="1746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2286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mb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40" y="2395440"/>
            <a:ext cx="123120" cy="123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4000" y="2340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Strength (workouts)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1999" y="2365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1999" y="2365200"/>
            <a:ext cx="36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0" y="2322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2862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ctivity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40" y="2971440"/>
            <a:ext cx="123120" cy="123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4000" y="2916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Endurance (cardio)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1999" y="2941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1999" y="2941200"/>
            <a:ext cx="36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0000" y="2898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3438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ol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40" y="3547440"/>
            <a:ext cx="123120" cy="1231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4000" y="3492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Agility &amp; flexibility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1999" y="3517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1999" y="3517200"/>
            <a:ext cx="27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0000" y="3474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000" y="4014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roplet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440" y="4123440"/>
            <a:ext cx="123120" cy="1231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64000" y="4068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Hydration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11999" y="4093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1999" y="4093200"/>
            <a:ext cx="18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0000" y="4050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2000" y="4590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oon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440" y="4699440"/>
            <a:ext cx="123120" cy="1231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64000" y="4644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Sleep quality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11999" y="4669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11999" y="4669200"/>
            <a:ext cx="18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0000" y="4626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000" y="5436000"/>
            <a:ext cx="11328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e.g. Nutrition = logging consistency (40%) + calorie adherence (35%) + protein adherence (25%)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TDEE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580000" cy="334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580000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00" y="1422000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40" y="1560240"/>
            <a:ext cx="155520" cy="155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6000" y="1494000"/>
            <a:ext cx="468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BMR — Mifflin-St Jeor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2052000"/>
            <a:ext cx="5220000" cy="24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50">
                <a:solidFill>
                  <a:srgbClr val="14120E"/>
                </a:solidFill>
              </a:rPr>
              <a:t>•  Men:    10×kg + 6.25×cm − 5×age + 5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Women:  10×kg + 6.25×cm − 5×age − 161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Goal delta: +450 kcal to build muscle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−400 kcal to lose weight, +0 to maintain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260000"/>
            <a:ext cx="5580000" cy="334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2000" y="1260000"/>
            <a:ext cx="5580000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6000" y="1422000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ctivity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240" y="1560240"/>
            <a:ext cx="155520" cy="155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76000" y="1494000"/>
            <a:ext cx="468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Activity &amp;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000" y="2052000"/>
            <a:ext cx="5220000" cy="24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50">
                <a:solidFill>
                  <a:srgbClr val="14120E"/>
                </a:solidFill>
              </a:rPr>
              <a:t>•  Sedentary ×1.20  ·  Light ×1.375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Moderate ×1.55  ·  Active ×1.725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Very active ×1.90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Clamped to 1,200 – 5,000 kcal /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4716000"/>
            <a:ext cx="11340000" cy="972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000" y="4878000"/>
            <a:ext cx="503999" cy="50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arge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79" y="5039279"/>
            <a:ext cx="181439" cy="1814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24000" y="4860000"/>
            <a:ext cx="288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6A1A"/>
                </a:solidFill>
              </a:rPr>
              <a:t>Worked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4000" y="5130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14120E"/>
                </a:solidFill>
              </a:rPr>
              <a:t>25yo male · 80 kg · 180 cm · moderate activity  →  TDEE ≈ 2,798 kcal / 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Trend Slopes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numpy polyfit fits a line through daily values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Calorie trend — is intake rising or falling?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Volume trend — progressing or plateaued?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Macro Balance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Actual protein/carb/fat % vs. plan target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Score = 100 − total macro deviation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Catches "right calories, wrong macros"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4353694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4353694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504894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umb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60" y="4654654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569694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Exercise Progressions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5091693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Per-lift: first session vs. most recent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e.g. "Bench Press +18%" this month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Sorted so the biggest movers surface first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4353694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4353694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504894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hield-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818" y="4654654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569694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Consistency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5091693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Calories 40% + frequency 40% + logging 20%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On track at ≥65% (and ≥75% on calories)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Gates whether coaching messages send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lenda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WEEKLY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Weekly Progress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lenda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0" y="1419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872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26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Sunday, 09:00 UTC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59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Celery Beat triggers for every opted-in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1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end-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2355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2808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2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7-Day Feature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5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Same engineering pipeline, scoped to the week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13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3291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3744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13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LLM Writes the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46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Assessment, wins, improvement areas, projection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06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ell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4227120"/>
            <a:ext cx="293760" cy="293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2000" y="407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Delivered &amp; Saved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2000" y="439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Push notification + a persisted coaching 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059" y="1260000"/>
            <a:ext cx="5484059" cy="2664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38059" y="1404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igma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539" y="1536479"/>
            <a:ext cx="149039" cy="14903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2059" y="1458000"/>
            <a:ext cx="4692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</a:rPr>
              <a:t>On-Track Formula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6059" y="1980000"/>
            <a:ext cx="5124059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Consistency = 40% calories + 40% frequency + 20% logging</a:t>
            </a:r>
          </a:p>
          <a:p>
            <a:pPr algn="l">
              <a:spcBef>
                <a:spcPts val="2200"/>
              </a:spcBef>
            </a:pPr>
            <a:r>
              <a:rPr sz="1650">
                <a:solidFill>
                  <a:srgbClr val="14120E"/>
                </a:solidFill>
              </a:rPr>
              <a:t>•  On track when consistency ≥ 65%</a:t>
            </a:r>
          </a:p>
          <a:p>
            <a:pPr algn="l">
              <a:spcBef>
                <a:spcPts val="2200"/>
              </a:spcBef>
            </a:pPr>
            <a:r>
              <a:rPr sz="1650">
                <a:solidFill>
                  <a:srgbClr val="14120E"/>
                </a:solidFill>
              </a:rPr>
              <a:t>•  ...and calorie adherence ≥ 75% too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6059" y="4068000"/>
            <a:ext cx="5484059" cy="104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4059" y="4158000"/>
            <a:ext cx="526805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6A1A"/>
                </a:solidFill>
              </a:rPr>
              <a:t>"Your Weekly Progress Report"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4059" y="4716000"/>
            <a:ext cx="5268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the actual push notification title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ren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000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pu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00" y="1731600"/>
            <a:ext cx="226800" cy="22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9999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9999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Backend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602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6202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629" y="1731600"/>
            <a:ext cx="226800" cy="226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8202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202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Primary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805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405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s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659" y="1731600"/>
            <a:ext cx="226800" cy="226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1405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405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Cache &amp; Broker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8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2608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ctivity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7689" y="1731600"/>
            <a:ext cx="226800" cy="226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4608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Celery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608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Task Queue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000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000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hon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00" y="3153600"/>
            <a:ext cx="226800" cy="226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49999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Flutter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9999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Mobile 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602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6202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ell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3629" y="3153600"/>
            <a:ext cx="226800" cy="226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18202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Firebase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202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Push notifications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805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9405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obot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5659" y="3153600"/>
            <a:ext cx="226800" cy="226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1405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Qwen 235B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1405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AI plan generation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008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2608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amera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7689" y="3153600"/>
            <a:ext cx="226800" cy="226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84608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Qwen2.5-VL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608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Meal vision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4000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0000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ic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600" y="4575600"/>
            <a:ext cx="226800" cy="226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349999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Whisper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49999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Groq — voice-to-text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3602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46202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earch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63629" y="4575600"/>
            <a:ext cx="226800" cy="226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18202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ChromaDB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8202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Vector database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6805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9405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cloud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5659" y="4575600"/>
            <a:ext cx="226800" cy="2268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01405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Docker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405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Deployment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0008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2608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layers-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7689" y="4575600"/>
            <a:ext cx="226800" cy="2268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84608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Next.js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4608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Landing page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ield-chec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Testing &amp;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448059" cy="37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448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rench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8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API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124059" cy="29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Postman suite covers every REST endpoint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Environment configs per deployment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Manual + semi-automated request suites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2059" y="1260000"/>
            <a:ext cx="5448059" cy="37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2059" y="1260000"/>
            <a:ext cx="5448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4059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819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32059" y="1476000"/>
            <a:ext cx="458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AI Output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4059" y="1997999"/>
            <a:ext cx="5124059" cy="29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Synthetic profiles — goals &amp; conditions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Rubric checks — allergen safety, fit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Every plan scored before it 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5364000"/>
            <a:ext cx="11328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No CI pipeline runs yet — API and AI-output checks are run manually ahead of each release.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Future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AI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Real-time Q&amp;A on your plan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Aware of your full health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on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Wearables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Auto-synced Apple &amp; Galaxy Watch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Heart rate, steps &amp; sleep,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ayer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60" y="4198462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Arabic &amp; RTL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Full Arabic UI with RTL layout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Localized MENA food 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user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18" y="4198462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Coach 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Coaches manage real clients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Shared client progress dashboard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36120" y="576000"/>
            <a:ext cx="1007999" cy="1007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-circl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79" y="898559"/>
            <a:ext cx="362879" cy="362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000" y="2052000"/>
            <a:ext cx="11040119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0" b="1">
                <a:solidFill>
                  <a:srgbClr val="14120E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3564000"/>
            <a:ext cx="11040119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6A1A"/>
                </a:solidFill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4194000"/>
            <a:ext cx="7200000" cy="25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00" y="4338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4644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