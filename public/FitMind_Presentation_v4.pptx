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8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9.png"/><Relationship Id="rId10" Type="http://schemas.openxmlformats.org/officeDocument/2006/relationships/image" Target="../media/image8.png"/><Relationship Id="rId11" Type="http://schemas.openxmlformats.org/officeDocument/2006/relationships/image" Target="../media/image32.png"/><Relationship Id="rId12" Type="http://schemas.openxmlformats.org/officeDocument/2006/relationships/image" Target="../media/image18.png"/><Relationship Id="rId13" Type="http://schemas.openxmlformats.org/officeDocument/2006/relationships/image" Target="../media/image33.png"/><Relationship Id="rId1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4.png"/><Relationship Id="rId4" Type="http://schemas.openxmlformats.org/officeDocument/2006/relationships/image" Target="../media/image30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440000"/>
            <a:ext cx="11112119" cy="12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0" b="1">
                <a:solidFill>
                  <a:srgbClr val="14120E"/>
                </a:solidFill>
              </a:rPr>
              <a:t>FitMind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000" y="2700000"/>
            <a:ext cx="11112119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6A1A"/>
                </a:solidFill>
              </a:rPr>
              <a:t>AI-Powered Fitness &amp; Nutrition Companion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000" y="3240000"/>
            <a:ext cx="6480000" cy="21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000" y="3348000"/>
            <a:ext cx="11112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Mohamed Taha  ·  Medhat Ahmed  ·  Ahmed Saber  ·  Mohammed Gamal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000" y="3618000"/>
            <a:ext cx="11112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Dr. Osama Ismail  ·  TA. Doaa Ghaleb  ·  Cairo University FCAI  · 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96119" y="468000"/>
            <a:ext cx="720000" cy="72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p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6519" y="698400"/>
            <a:ext cx="259200" cy="25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98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rnin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330479"/>
            <a:ext cx="149039" cy="1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999" y="1980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58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4120E"/>
                </a:solidFill>
              </a:rPr>
              <a:t>The Fitness App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26000"/>
            <a:ext cx="936000" cy="27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188000"/>
            <a:ext cx="3536039" cy="151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188000"/>
            <a:ext cx="32400" cy="151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313999"/>
            <a:ext cx="3284040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FF6A1A"/>
                </a:solidFill>
              </a:rP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1925999"/>
            <a:ext cx="328404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</a:rPr>
              <a:t>quit within 2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2142000"/>
            <a:ext cx="328404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120E"/>
                </a:solidFill>
              </a:rPr>
              <a:t>Manual logging is too tedious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4039" y="1188000"/>
            <a:ext cx="3536039" cy="151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4039" y="1188000"/>
            <a:ext cx="32400" cy="151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8039" y="1313999"/>
            <a:ext cx="3284040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FF6A1A"/>
                </a:solidFill>
              </a:rPr>
              <a:t>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8039" y="1925999"/>
            <a:ext cx="328404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</a:rPr>
              <a:t>apps to track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8039" y="2142000"/>
            <a:ext cx="328404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120E"/>
                </a:solidFill>
              </a:rPr>
              <a:t>No unified health picture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079" y="1188000"/>
            <a:ext cx="3536039" cy="151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36079" y="1188000"/>
            <a:ext cx="32400" cy="1512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0079" y="1313999"/>
            <a:ext cx="3284040" cy="6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FF6A1A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0079" y="1925999"/>
            <a:ext cx="328404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</a:rPr>
              <a:t>apps adapt to conditions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0079" y="2142000"/>
            <a:ext cx="328404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120E"/>
                </a:solidFill>
              </a:rPr>
              <a:t>Injuries &amp; meds ignored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2934000"/>
            <a:ext cx="1132811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4120E"/>
                </a:solidFill>
              </a:rPr>
              <a:t>Every user gets the same generic plan — no adaptation, no safety.</a:t>
            </a:r>
          </a:p>
        </p:txBody>
      </p:sp>
      <p:pic>
        <p:nvPicPr>
          <p:cNvPr id="24" name="Picture 23" descr="chart-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3366000"/>
            <a:ext cx="251999" cy="25199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4000" y="3384000"/>
            <a:ext cx="10968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14120E"/>
                </a:solidFill>
              </a:rPr>
              <a:t>Plans never adapt to your progress or lifestyle</a:t>
            </a:r>
          </a:p>
        </p:txBody>
      </p:sp>
      <p:pic>
        <p:nvPicPr>
          <p:cNvPr id="26" name="Picture 25" descr="shield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" y="3779999"/>
            <a:ext cx="251999" cy="25199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4000" y="3797999"/>
            <a:ext cx="10968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14120E"/>
                </a:solidFill>
              </a:rPr>
              <a:t>Chronic conditions, injuries and allergies are ignored</a:t>
            </a:r>
          </a:p>
        </p:txBody>
      </p:sp>
      <p:pic>
        <p:nvPicPr>
          <p:cNvPr id="28" name="Picture 27" descr="bell-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00" y="4193998"/>
            <a:ext cx="251999" cy="2519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4000" y="4211998"/>
            <a:ext cx="10968119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14120E"/>
                </a:solidFill>
              </a:rPr>
              <a:t>Tracking apps show data — none turn it into daily advice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98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ophy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330479"/>
            <a:ext cx="149039" cy="1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999" y="1980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58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4120E"/>
                </a:solidFill>
              </a:rPr>
              <a:t>How FitMind Compares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26000"/>
            <a:ext cx="936000" cy="27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1152000"/>
          <a:ext cx="8927999" cy="45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/>
                <a:gridCol w="1404000"/>
                <a:gridCol w="1620000"/>
                <a:gridCol w="1835999"/>
                <a:gridCol w="1332000"/>
              </a:tblGrid>
              <a:tr h="56700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</a:rPr>
                        <a:t>FitMind</a:t>
                      </a:r>
                    </a:p>
                  </a:txBody>
                  <a:tcPr>
                    <a:solidFill>
                      <a:srgbClr val="FF6A1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Freeletics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MyFitnessPal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Noom</a:t>
                      </a:r>
                    </a:p>
                  </a:txBody>
                  <a:tcPr>
                    <a:solidFill>
                      <a:srgbClr val="14120E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670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AI Workout Plans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670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AI Nutrition Plans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670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Camera Meal Scan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670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Voice Logging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670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Daily AI Coaching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670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Health Condition Safety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AFAF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6700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4120E"/>
                          </a:solidFill>
                        </a:rPr>
                        <a:t>Unified Fitness Score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6A1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7F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666666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000" y="6444001"/>
            <a:ext cx="11328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Freeletics is the closest competitor — AI workout and nutrition coaching.  Partial = feature exists but limited depth.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98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p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330479"/>
            <a:ext cx="149039" cy="1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999" y="1980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58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4120E"/>
                </a:solidFill>
              </a:rPr>
              <a:t>Introducing FitMind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26000"/>
            <a:ext cx="936000" cy="27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170000"/>
            <a:ext cx="5376059" cy="23524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170000"/>
            <a:ext cx="5376059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00" y="1295999"/>
            <a:ext cx="360000" cy="36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00" y="1411199"/>
            <a:ext cx="129600" cy="12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8000" y="1321200"/>
            <a:ext cx="4656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Personalized AI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" y="1782000"/>
            <a:ext cx="5088059" cy="16684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>
                <a:solidFill>
                  <a:srgbClr val="14120E"/>
                </a:solidFill>
              </a:rPr>
              <a:t>•  17-question health assessment up front</a:t>
            </a:r>
          </a:p>
          <a:p>
            <a:pPr algn="l">
              <a:spcBef>
                <a:spcPts val="600"/>
              </a:spcBef>
            </a:pPr>
            <a:r>
              <a:rPr sz="1450">
                <a:solidFill>
                  <a:srgbClr val="14120E"/>
                </a:solidFill>
              </a:rPr>
              <a:t>•  Injuries, allergies &amp; medications built in</a:t>
            </a:r>
          </a:p>
          <a:p>
            <a:pPr algn="l">
              <a:spcBef>
                <a:spcPts val="600"/>
              </a:spcBef>
            </a:pPr>
            <a:r>
              <a:rPr sz="1450">
                <a:solidFill>
                  <a:srgbClr val="14120E"/>
                </a:solidFill>
              </a:rPr>
              <a:t>•  Weekly workout + daily nutrition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0058" y="1170000"/>
            <a:ext cx="5376059" cy="23524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0058" y="1170000"/>
            <a:ext cx="5376059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04058" y="1295999"/>
            <a:ext cx="360000" cy="36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mera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258" y="1411199"/>
            <a:ext cx="129600" cy="129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36058" y="1321200"/>
            <a:ext cx="4656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Multimodal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4058" y="1782000"/>
            <a:ext cx="5088059" cy="16684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>
                <a:solidFill>
                  <a:srgbClr val="14120E"/>
                </a:solidFill>
              </a:rPr>
              <a:t>•  Camera — photograph a meal, get macros</a:t>
            </a:r>
          </a:p>
          <a:p>
            <a:pPr algn="l">
              <a:spcBef>
                <a:spcPts val="600"/>
              </a:spcBef>
            </a:pPr>
            <a:r>
              <a:rPr sz="1450">
                <a:solidFill>
                  <a:srgbClr val="14120E"/>
                </a:solidFill>
              </a:rPr>
              <a:t>•  Voice — speak what you did, it gets logged</a:t>
            </a:r>
          </a:p>
          <a:p>
            <a:pPr algn="l">
              <a:spcBef>
                <a:spcPts val="600"/>
              </a:spcBef>
            </a:pPr>
            <a:r>
              <a:rPr sz="1450">
                <a:solidFill>
                  <a:srgbClr val="14120E"/>
                </a:solidFill>
              </a:rPr>
              <a:t>•  Text entry always available as fallback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702420"/>
            <a:ext cx="5376059" cy="23524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702420"/>
            <a:ext cx="5376059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6000" y="3828419"/>
            <a:ext cx="360000" cy="36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obo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00" y="3943619"/>
            <a:ext cx="129600" cy="129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8000" y="3853620"/>
            <a:ext cx="4656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Daily AI Coaching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4314420"/>
            <a:ext cx="5088059" cy="16684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>
                <a:solidFill>
                  <a:srgbClr val="14120E"/>
                </a:solidFill>
              </a:rPr>
              <a:t>•  Nightly analysis of all logged activity</a:t>
            </a:r>
          </a:p>
          <a:p>
            <a:pPr algn="l">
              <a:spcBef>
                <a:spcPts val="600"/>
              </a:spcBef>
            </a:pPr>
            <a:r>
              <a:rPr sz="1450">
                <a:solidFill>
                  <a:srgbClr val="14120E"/>
                </a:solidFill>
              </a:rPr>
              <a:t>•  One personalized tip delivered each morning</a:t>
            </a:r>
          </a:p>
          <a:p>
            <a:pPr algn="l">
              <a:spcBef>
                <a:spcPts val="600"/>
              </a:spcBef>
            </a:pPr>
            <a:r>
              <a:rPr sz="1450">
                <a:solidFill>
                  <a:srgbClr val="14120E"/>
                </a:solidFill>
              </a:rPr>
              <a:t>•  Sent as a push notification via Firebase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0058" y="3702420"/>
            <a:ext cx="5376059" cy="23524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60058" y="3702420"/>
            <a:ext cx="5376059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04058" y="3828419"/>
            <a:ext cx="360000" cy="36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ar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258" y="3943619"/>
            <a:ext cx="129600" cy="129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36058" y="3853620"/>
            <a:ext cx="4656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Unified Fitness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4058" y="4314420"/>
            <a:ext cx="5088059" cy="16684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>
                <a:solidFill>
                  <a:srgbClr val="14120E"/>
                </a:solidFill>
              </a:rPr>
              <a:t>•  0–100 composite across 6 health dimensions</a:t>
            </a:r>
          </a:p>
          <a:p>
            <a:pPr algn="l">
              <a:spcBef>
                <a:spcPts val="600"/>
              </a:spcBef>
            </a:pPr>
            <a:r>
              <a:rPr sz="1450">
                <a:solidFill>
                  <a:srgbClr val="14120E"/>
                </a:solidFill>
              </a:rPr>
              <a:t>•  Nutrition, workouts, hydration &amp; sleep combined</a:t>
            </a:r>
          </a:p>
          <a:p>
            <a:pPr algn="l">
              <a:spcBef>
                <a:spcPts val="600"/>
              </a:spcBef>
            </a:pPr>
            <a:r>
              <a:rPr sz="1450">
                <a:solidFill>
                  <a:srgbClr val="14120E"/>
                </a:solidFill>
              </a:rPr>
              <a:t>•  7-day rolling window, recalculated nightly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98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yer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330479"/>
            <a:ext cx="149039" cy="1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999" y="1980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58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4120E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26000"/>
            <a:ext cx="936000" cy="27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</a:rPr>
              <a:t>5</a:t>
            </a:r>
          </a:p>
        </p:txBody>
      </p:sp>
      <p:pic>
        <p:nvPicPr>
          <p:cNvPr id="8" name="Picture 7" descr="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895" y="1116000"/>
            <a:ext cx="8362327" cy="556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98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pu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330479"/>
            <a:ext cx="149039" cy="1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999" y="1980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AI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58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4120E"/>
                </a:solidFill>
              </a:rPr>
              <a:t>Plan Generation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26000"/>
            <a:ext cx="936000" cy="27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188000"/>
            <a:ext cx="468000" cy="468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r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80" y="1309680"/>
            <a:ext cx="224640" cy="2246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3400" y="1656000"/>
            <a:ext cx="25200" cy="37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1180800"/>
            <a:ext cx="4836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1.  User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1447200"/>
            <a:ext cx="4836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Assessment answers feed the TDEE 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1962000"/>
            <a:ext cx="468000" cy="468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bo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80" y="2083680"/>
            <a:ext cx="224640" cy="2246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53400" y="2430000"/>
            <a:ext cx="25200" cy="37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1954800"/>
            <a:ext cx="4836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2.  Generate — Qwen 235B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2221200"/>
            <a:ext cx="4836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3-channel prompt: targets, safety rules, food 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2736000"/>
            <a:ext cx="468000" cy="468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hield-che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680" y="2857680"/>
            <a:ext cx="224640" cy="2246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53400" y="3204000"/>
            <a:ext cx="25200" cy="37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0000" y="2728800"/>
            <a:ext cx="4836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3.  Judge — gpt-4o-mini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000" y="2995200"/>
            <a:ext cx="4836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Independent LLM checks plan safety and format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3510000"/>
            <a:ext cx="468000" cy="468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rench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680" y="3631680"/>
            <a:ext cx="224640" cy="22464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53400" y="3978000"/>
            <a:ext cx="25200" cy="37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0000" y="3502800"/>
            <a:ext cx="4836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4.  Fix Once (if needed)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000" y="3769200"/>
            <a:ext cx="4836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One automatic repair pass if the judge flags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000" y="4284000"/>
            <a:ext cx="468000" cy="468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ck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680" y="4405680"/>
            <a:ext cx="224640" cy="2246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80000" y="4276800"/>
            <a:ext cx="4836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5.  Allergy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000" y="4543200"/>
            <a:ext cx="4836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Deterministic filter removes any flagged foods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6059" y="1188000"/>
            <a:ext cx="5484059" cy="2232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0059" y="1278000"/>
            <a:ext cx="5196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6A1A"/>
                </a:solidFill>
              </a:rPr>
              <a:t>Three-Channel System Prompt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0059" y="1620000"/>
            <a:ext cx="5196059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14120E"/>
                </a:solidFill>
              </a:rPr>
              <a:t>•  P — deterministic TDEE targets (Mifflin-St Jeor)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14120E"/>
                </a:solidFill>
              </a:rPr>
              <a:t>•  C — condition-specific safety rules per profile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14120E"/>
                </a:solidFill>
              </a:rPr>
              <a:t>•  B — whitelisted food &amp; exercise IDs from RAG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6059" y="3564000"/>
            <a:ext cx="5484059" cy="79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4059" y="3618000"/>
            <a:ext cx="5268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6A1A"/>
                </a:solidFill>
              </a:rPr>
              <a:t>1,200 – 5,000 kcal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4059" y="3924000"/>
            <a:ext cx="526805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</a:rPr>
              <a:t>TDEE clamp range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98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330479"/>
            <a:ext cx="149039" cy="1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999" y="1980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58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4120E"/>
                </a:solidFill>
              </a:rPr>
              <a:t>Hybrid Search for Food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26000"/>
            <a:ext cx="936000" cy="27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188000"/>
            <a:ext cx="468000" cy="468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80" y="1309680"/>
            <a:ext cx="224640" cy="2246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3400" y="1656000"/>
            <a:ext cx="25200" cy="37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1180800"/>
            <a:ext cx="4836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1.  Query Comes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1447200"/>
            <a:ext cx="4836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A food or exercise lookup during plan 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1962000"/>
            <a:ext cx="468000" cy="468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is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80" y="2083680"/>
            <a:ext cx="224640" cy="2246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53400" y="2430000"/>
            <a:ext cx="25200" cy="37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1954800"/>
            <a:ext cx="4836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2.  BM25 Okapi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2221200"/>
            <a:ext cx="4836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Keyword scoring over the food &amp; exercise 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2736000"/>
            <a:ext cx="468000" cy="468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80" y="2857680"/>
            <a:ext cx="224640" cy="2246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53400" y="3204000"/>
            <a:ext cx="25200" cy="37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0000" y="2728800"/>
            <a:ext cx="4836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3.  ChromaDB Semantic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000" y="2995200"/>
            <a:ext cx="4836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384-dim multilingual embeddings, cosine similarity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3510000"/>
            <a:ext cx="468000" cy="468000"/>
          </a:xfrm>
          <a:prstGeom prst="roundRect">
            <a:avLst>
              <a:gd name="adj" fmla="val 50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igma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680" y="3631680"/>
            <a:ext cx="224640" cy="2246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80000" y="3502800"/>
            <a:ext cx="483605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4.  Reciprocal Rank 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000" y="3769200"/>
            <a:ext cx="4836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0">
                <a:solidFill>
                  <a:srgbClr val="666666"/>
                </a:solidFill>
              </a:rPr>
              <a:t>Rankings merged:  score = Σ 1/(k+rank),  k = 60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6059" y="1188000"/>
            <a:ext cx="5484059" cy="66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6059" y="1188000"/>
            <a:ext cx="32400" cy="66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2058" y="1267200"/>
            <a:ext cx="5268059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6A1A"/>
                </a:solidFill>
              </a:rPr>
              <a:t>8,789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2058" y="1612800"/>
            <a:ext cx="526805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foods indexed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6059" y="1962000"/>
            <a:ext cx="5484059" cy="66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76059" y="1962000"/>
            <a:ext cx="32400" cy="66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2058" y="2041200"/>
            <a:ext cx="5268059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6A1A"/>
                </a:solidFill>
              </a:rPr>
              <a:t>384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2058" y="2386800"/>
            <a:ext cx="526805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embedding dimensions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6059" y="2736000"/>
            <a:ext cx="5484059" cy="66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76059" y="2736000"/>
            <a:ext cx="32400" cy="66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2058" y="2815200"/>
            <a:ext cx="5268059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6A1A"/>
                </a:solidFill>
              </a:rPr>
              <a:t>k = 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2058" y="3160800"/>
            <a:ext cx="526805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RRF constant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6059" y="3510000"/>
            <a:ext cx="5484059" cy="66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6059" y="3510000"/>
            <a:ext cx="32400" cy="666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2058" y="3589200"/>
            <a:ext cx="5268059" cy="34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6A1A"/>
                </a:solidFill>
              </a:rPr>
              <a:t>2×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2058" y="3934800"/>
            <a:ext cx="526805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retrieval paths, fused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98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330479"/>
            <a:ext cx="149039" cy="1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999" y="1980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58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4120E"/>
                </a:solidFill>
              </a:rPr>
              <a:t>FitMind Score —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26000"/>
            <a:ext cx="936000" cy="27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64119" y="1152000"/>
            <a:ext cx="2196000" cy="1512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36119" y="1260000"/>
            <a:ext cx="2052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0" b="1">
                <a:solidFill>
                  <a:srgbClr val="FF6A1A"/>
                </a:solidFill>
              </a:rPr>
              <a:t>0–100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6119" y="1944000"/>
            <a:ext cx="2052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4120E"/>
                </a:solidFill>
              </a:rPr>
              <a:t>Composite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36119" y="2178000"/>
            <a:ext cx="205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7-day rolling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152000"/>
            <a:ext cx="6840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Score Components</a:t>
            </a:r>
          </a:p>
        </p:txBody>
      </p:sp>
      <p:pic>
        <p:nvPicPr>
          <p:cNvPr id="13" name="Picture 12" descr="apple-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458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0000" y="1465200"/>
            <a:ext cx="244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4120E"/>
                </a:solidFill>
              </a:rPr>
              <a:t>Nutrition compliance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0000" y="1508400"/>
            <a:ext cx="4320000" cy="18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0000" y="1508400"/>
            <a:ext cx="4320000" cy="1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3999" y="1458000"/>
            <a:ext cx="5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25%</a:t>
            </a:r>
          </a:p>
        </p:txBody>
      </p:sp>
      <p:pic>
        <p:nvPicPr>
          <p:cNvPr id="18" name="Picture 17" descr="dumbbell-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" y="1918800"/>
            <a:ext cx="216000" cy="21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0000" y="1926000"/>
            <a:ext cx="244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4120E"/>
                </a:solidFill>
              </a:rPr>
              <a:t>Strength (workouts)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0000" y="1969200"/>
            <a:ext cx="4320000" cy="18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0000" y="1969200"/>
            <a:ext cx="3456000" cy="1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03999" y="1918800"/>
            <a:ext cx="5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20%</a:t>
            </a:r>
          </a:p>
        </p:txBody>
      </p:sp>
      <p:pic>
        <p:nvPicPr>
          <p:cNvPr id="23" name="Picture 22" descr="activity-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00" y="23796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0000" y="2386800"/>
            <a:ext cx="244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4120E"/>
                </a:solidFill>
              </a:rPr>
              <a:t>Endurance (cardio)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0000" y="2430000"/>
            <a:ext cx="4320000" cy="18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40000" y="2430000"/>
            <a:ext cx="3456000" cy="1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3999" y="2379600"/>
            <a:ext cx="5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20%</a:t>
            </a:r>
          </a:p>
        </p:txBody>
      </p:sp>
      <p:pic>
        <p:nvPicPr>
          <p:cNvPr id="28" name="Picture 27" descr="bolt-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00" y="28404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0000" y="2847600"/>
            <a:ext cx="244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4120E"/>
                </a:solidFill>
              </a:rPr>
              <a:t>Agility &amp; flexibility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0000" y="2890800"/>
            <a:ext cx="4320000" cy="18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0000" y="2890800"/>
            <a:ext cx="2592000" cy="1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03999" y="2840400"/>
            <a:ext cx="5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15%</a:t>
            </a:r>
          </a:p>
        </p:txBody>
      </p:sp>
      <p:pic>
        <p:nvPicPr>
          <p:cNvPr id="33" name="Picture 32" descr="droplet-o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000" y="3301200"/>
            <a:ext cx="216000" cy="216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20000" y="3308400"/>
            <a:ext cx="244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4120E"/>
                </a:solidFill>
              </a:rPr>
              <a:t>Hydration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0000" y="3351600"/>
            <a:ext cx="4320000" cy="18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40000" y="3351600"/>
            <a:ext cx="1728000" cy="1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03999" y="3301200"/>
            <a:ext cx="5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10%</a:t>
            </a:r>
          </a:p>
        </p:txBody>
      </p:sp>
      <p:pic>
        <p:nvPicPr>
          <p:cNvPr id="38" name="Picture 37" descr="moon-oran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000" y="3762000"/>
            <a:ext cx="216000" cy="216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20000" y="3769200"/>
            <a:ext cx="244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4120E"/>
                </a:solidFill>
              </a:rPr>
              <a:t>Sleep quality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0000" y="3812400"/>
            <a:ext cx="4320000" cy="18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40000" y="3812400"/>
            <a:ext cx="1728000" cy="180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03999" y="3762000"/>
            <a:ext cx="57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10%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" y="4356000"/>
            <a:ext cx="1132811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Calculated nightly via Celery Beat  ·  numpy polyfit for trend slopes  ·  macro balance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98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gm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330479"/>
            <a:ext cx="149039" cy="1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999" y="1980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58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4120E"/>
                </a:solidFill>
              </a:rPr>
              <a:t>TDEE &amp; 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26000"/>
            <a:ext cx="936000" cy="27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152000"/>
            <a:ext cx="5580000" cy="237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152000"/>
            <a:ext cx="5580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8000" y="1278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igma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40" y="1387440"/>
            <a:ext cx="123120" cy="123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0000" y="1296000"/>
            <a:ext cx="48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4120E"/>
                </a:solidFill>
              </a:rPr>
              <a:t>TDEE — Mifflin-St Jeor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" y="1745999"/>
            <a:ext cx="5292000" cy="15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BMR = 10×kg + 6.25×cm − 5×age  (+5 men / −161 women)</a:t>
            </a:r>
          </a:p>
          <a:p>
            <a:pPr algn="l">
              <a:spcBef>
                <a:spcPts val="1600"/>
              </a:spcBef>
            </a:pPr>
            <a:r>
              <a:rPr sz="1650">
                <a:solidFill>
                  <a:srgbClr val="14120E"/>
                </a:solidFill>
              </a:rPr>
              <a:t>•  Activity ×1.20 (sedentary) to ×1.90 (very active)</a:t>
            </a:r>
          </a:p>
          <a:p>
            <a:pPr algn="l">
              <a:spcBef>
                <a:spcPts val="1600"/>
              </a:spcBef>
            </a:pPr>
            <a:r>
              <a:rPr sz="1650">
                <a:solidFill>
                  <a:srgbClr val="14120E"/>
                </a:solidFill>
              </a:rPr>
              <a:t>•  Clamped to 1,200 – 5,000 kcal /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152000"/>
            <a:ext cx="5580000" cy="237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2000" y="1152000"/>
            <a:ext cx="5580000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18000" y="1278000"/>
            <a:ext cx="342000" cy="342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rend-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440" y="1387440"/>
            <a:ext cx="123120" cy="1231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50000" y="1296000"/>
            <a:ext cx="48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4120E"/>
                </a:solidFill>
              </a:rPr>
              <a:t>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1745999"/>
            <a:ext cx="5292000" cy="151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50">
                <a:solidFill>
                  <a:srgbClr val="14120E"/>
                </a:solidFill>
              </a:rPr>
              <a:t>•  numpy polyfit → 7-day calorie trend slope</a:t>
            </a:r>
          </a:p>
          <a:p>
            <a:pPr algn="l">
              <a:spcBef>
                <a:spcPts val="1600"/>
              </a:spcBef>
            </a:pPr>
            <a:r>
              <a:rPr sz="1650">
                <a:solidFill>
                  <a:srgbClr val="14120E"/>
                </a:solidFill>
              </a:rPr>
              <a:t>•  Macro balance score from protein/carb/fat ratio</a:t>
            </a:r>
          </a:p>
          <a:p>
            <a:pPr algn="l">
              <a:spcBef>
                <a:spcPts val="1600"/>
              </a:spcBef>
            </a:pPr>
            <a:r>
              <a:rPr sz="1650">
                <a:solidFill>
                  <a:srgbClr val="14120E"/>
                </a:solidFill>
              </a:rPr>
              <a:t>•  Workout frequency adherence vs. weekly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3708000"/>
            <a:ext cx="11340000" cy="684000"/>
          </a:xfrm>
          <a:prstGeom prst="roundRect">
            <a:avLst>
              <a:gd name="adj" fmla="val 7000"/>
            </a:avLst>
          </a:prstGeom>
          <a:solidFill>
            <a:srgbClr val="FFF7F2"/>
          </a:solidFill>
          <a:ln w="1651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8000" y="3816000"/>
            <a:ext cx="360000" cy="36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arge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00" y="3931200"/>
            <a:ext cx="129600" cy="129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26000" y="3823199"/>
            <a:ext cx="23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6A1A"/>
                </a:solidFill>
              </a:rPr>
              <a:t>Worked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" y="4014000"/>
            <a:ext cx="10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14120E"/>
                </a:solidFill>
              </a:rPr>
              <a:t>25yo male · 80 kg · 180 cm · moderate activity  →  TDEE ≈ 2,798 kcal / day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98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ren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330479"/>
            <a:ext cx="149039" cy="1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999" y="1980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58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4120E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26000"/>
            <a:ext cx="936000" cy="27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6000" y="1152000"/>
            <a:ext cx="2724029" cy="99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00" y="1375200"/>
            <a:ext cx="486000" cy="486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pu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30720"/>
            <a:ext cx="174960" cy="174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4000" y="1303200"/>
            <a:ext cx="200403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4000" y="1555200"/>
            <a:ext cx="200403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66666"/>
                </a:solidFill>
              </a:rPr>
              <a:t>Backend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8029" y="1152000"/>
            <a:ext cx="2724029" cy="99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08029" y="1375200"/>
            <a:ext cx="486000" cy="486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bas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549" y="1530720"/>
            <a:ext cx="174960" cy="174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66029" y="1303200"/>
            <a:ext cx="200403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6029" y="1555200"/>
            <a:ext cx="200403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66666"/>
                </a:solidFill>
              </a:rPr>
              <a:t>Primary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0059" y="1152000"/>
            <a:ext cx="2724029" cy="99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0059" y="1375200"/>
            <a:ext cx="486000" cy="486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s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5579" y="1530720"/>
            <a:ext cx="174960" cy="1749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98059" y="1303200"/>
            <a:ext cx="200403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8059" y="1555200"/>
            <a:ext cx="200403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66666"/>
                </a:solidFill>
              </a:rPr>
              <a:t>Cache &amp; Broker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2089" y="1152000"/>
            <a:ext cx="2724029" cy="99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72089" y="1375200"/>
            <a:ext cx="486000" cy="486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ctivity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7609" y="1530720"/>
            <a:ext cx="174960" cy="1749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30089" y="1303200"/>
            <a:ext cx="200403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Celery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0089" y="1555200"/>
            <a:ext cx="200403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66666"/>
                </a:solidFill>
              </a:rPr>
              <a:t>Task Queue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6000" y="2250000"/>
            <a:ext cx="2724029" cy="99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6000" y="2473200"/>
            <a:ext cx="486000" cy="486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hon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628720"/>
            <a:ext cx="174960" cy="1749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34000" y="2401200"/>
            <a:ext cx="200403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Flutter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4000" y="2653200"/>
            <a:ext cx="200403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66666"/>
                </a:solidFill>
              </a:rPr>
              <a:t>Mobile 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18029" y="2250000"/>
            <a:ext cx="2724029" cy="99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08029" y="2473200"/>
            <a:ext cx="486000" cy="486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ell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3549" y="2628720"/>
            <a:ext cx="174960" cy="1749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966029" y="2401200"/>
            <a:ext cx="200403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Firebase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66029" y="2653200"/>
            <a:ext cx="200403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66666"/>
                </a:solidFill>
              </a:rPr>
              <a:t>Push notifications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50059" y="2250000"/>
            <a:ext cx="2724029" cy="99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40059" y="2473200"/>
            <a:ext cx="486000" cy="486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robot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5579" y="2628720"/>
            <a:ext cx="174960" cy="1749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798059" y="2401200"/>
            <a:ext cx="200403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Qwen 235B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8059" y="2653200"/>
            <a:ext cx="200403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66666"/>
                </a:solidFill>
              </a:rPr>
              <a:t>AI plan generation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82089" y="2250000"/>
            <a:ext cx="2724029" cy="99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072089" y="2473200"/>
            <a:ext cx="486000" cy="486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amera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7609" y="2628720"/>
            <a:ext cx="174960" cy="17496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630089" y="2401200"/>
            <a:ext cx="200403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Qwen2.5-VL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30089" y="2653200"/>
            <a:ext cx="200403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66666"/>
                </a:solidFill>
              </a:rPr>
              <a:t>Meal vision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6000" y="3348000"/>
            <a:ext cx="2724029" cy="99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76000" y="3571200"/>
            <a:ext cx="486000" cy="486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ic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3726720"/>
            <a:ext cx="174960" cy="17496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34000" y="3499200"/>
            <a:ext cx="200403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Groq Whisper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4000" y="3751200"/>
            <a:ext cx="200403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66666"/>
                </a:solidFill>
              </a:rPr>
              <a:t>Voice transcription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18029" y="3348000"/>
            <a:ext cx="2724029" cy="99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408029" y="3571200"/>
            <a:ext cx="486000" cy="486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earch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63549" y="3726720"/>
            <a:ext cx="174960" cy="17496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966029" y="3499200"/>
            <a:ext cx="200403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ChromaDB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66029" y="3751200"/>
            <a:ext cx="200403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66666"/>
                </a:solidFill>
              </a:rPr>
              <a:t>Vector database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50059" y="3348000"/>
            <a:ext cx="2724029" cy="99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40059" y="3571200"/>
            <a:ext cx="486000" cy="486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cloud-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5579" y="3726720"/>
            <a:ext cx="174960" cy="17496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798059" y="3499200"/>
            <a:ext cx="200403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Docker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98059" y="3751200"/>
            <a:ext cx="200403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66666"/>
                </a:solidFill>
              </a:rPr>
              <a:t>Deployment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82089" y="3348000"/>
            <a:ext cx="2724029" cy="99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072089" y="3571200"/>
            <a:ext cx="486000" cy="486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layers-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7609" y="3726720"/>
            <a:ext cx="174960" cy="17496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630089" y="3499200"/>
            <a:ext cx="200403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120E"/>
                </a:solidFill>
              </a:rPr>
              <a:t>Next.js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30089" y="3751200"/>
            <a:ext cx="200403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66666"/>
                </a:solidFill>
              </a:rPr>
              <a:t>Landing 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98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ield-chec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330479"/>
            <a:ext cx="149039" cy="1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999" y="1980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58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4120E"/>
                </a:solidFill>
              </a:rPr>
              <a:t>Testing &amp;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26000"/>
            <a:ext cx="936000" cy="27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152000"/>
            <a:ext cx="2700000" cy="827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152000"/>
            <a:ext cx="32400" cy="827999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999" y="1206000"/>
            <a:ext cx="2484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6A1A"/>
                </a:solidFill>
              </a:rPr>
              <a:t>48+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999" y="1584000"/>
            <a:ext cx="2484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unit &amp; integration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0000" y="1152000"/>
            <a:ext cx="2700000" cy="827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0000" y="1152000"/>
            <a:ext cx="32400" cy="827999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5999" y="1206000"/>
            <a:ext cx="2484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6A1A"/>
                </a:solidFill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5999" y="1584000"/>
            <a:ext cx="2484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core module coverage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8000" y="1152000"/>
            <a:ext cx="2700000" cy="827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48000" y="1152000"/>
            <a:ext cx="32400" cy="827999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3999" y="1206000"/>
            <a:ext cx="2484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6A1A"/>
                </a:solidFill>
              </a:rPr>
              <a:t>20+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3999" y="1584000"/>
            <a:ext cx="2484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AI plans manually reviewed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6000" y="1152000"/>
            <a:ext cx="2700000" cy="82799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56000" y="1152000"/>
            <a:ext cx="32400" cy="827999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1999" y="1206000"/>
            <a:ext cx="24840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6A1A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1999" y="1584000"/>
            <a:ext cx="2484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platforms tested on-device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000" y="2160000"/>
            <a:ext cx="5448059" cy="2399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000" y="2160000"/>
            <a:ext cx="5448059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6000" y="2285999"/>
            <a:ext cx="360000" cy="36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hield-chec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00" y="2401199"/>
            <a:ext cx="129600" cy="129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08000" y="2311200"/>
            <a:ext cx="4728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Test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2772000"/>
            <a:ext cx="5160059" cy="1715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14120E"/>
                </a:solidFill>
              </a:rPr>
              <a:t>•  Unit — auth, tracking, planning, coaching (mocked)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14120E"/>
                </a:solidFill>
              </a:rPr>
              <a:t>•  Integration — FastAPI TestClient + real PostgreSQL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14120E"/>
                </a:solidFill>
              </a:rPr>
              <a:t>•  E2E — full signup-to-score flow on real devices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12059" y="2160000"/>
            <a:ext cx="5448059" cy="2399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12059" y="2160000"/>
            <a:ext cx="5448059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56059" y="2285999"/>
            <a:ext cx="360000" cy="36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o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259" y="2401199"/>
            <a:ext cx="129600" cy="129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88059" y="2311200"/>
            <a:ext cx="4728059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4120E"/>
                </a:solidFill>
              </a:rPr>
              <a:t>AI Plan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6059" y="2772000"/>
            <a:ext cx="5160059" cy="1715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14120E"/>
                </a:solidFill>
              </a:rPr>
              <a:t>•  Macros land within ±5% of TDEE targets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14120E"/>
                </a:solidFill>
              </a:rPr>
              <a:t>•  100% deterministic allergy-food removal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14120E"/>
                </a:solidFill>
              </a:rPr>
              <a:t>•  Diabetic, injury &amp; asthma profiles hand-checked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198000"/>
            <a:ext cx="413999" cy="413999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-up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79" y="330479"/>
            <a:ext cx="149039" cy="1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999" y="198000"/>
            <a:ext cx="3600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6A1A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58000"/>
            <a:ext cx="11328119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4120E"/>
                </a:solidFill>
              </a:rPr>
              <a:t>Future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26000"/>
            <a:ext cx="936000" cy="27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2119" y="6552000"/>
            <a:ext cx="612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440000"/>
            <a:ext cx="2670029" cy="259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440000"/>
            <a:ext cx="2670029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33014" y="1638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774" y="1787760"/>
            <a:ext cx="168480" cy="168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" y="2232000"/>
            <a:ext cx="2454029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4120E"/>
                </a:solidFill>
              </a:rPr>
              <a:t>AI Chatbot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999" y="2646000"/>
            <a:ext cx="2418030" cy="1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Real-time in-app Q&amp;A aware of your full health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9229" y="2520000"/>
            <a:ext cx="19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6A1A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8029" y="1440000"/>
            <a:ext cx="2670029" cy="259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8029" y="1440000"/>
            <a:ext cx="2670029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19044" y="1638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hon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804" y="1787760"/>
            <a:ext cx="168480" cy="168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426029" y="2232000"/>
            <a:ext cx="2454029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4120E"/>
                </a:solidFill>
              </a:rPr>
              <a:t>Wearables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4028" y="2646000"/>
            <a:ext cx="2418030" cy="1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Auto-sync Apple Watch &amp; Galaxy Watch — heart rate, steps, sleep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5259" y="2520000"/>
            <a:ext cx="19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6A1A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4059" y="1440000"/>
            <a:ext cx="2670029" cy="259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4059" y="1440000"/>
            <a:ext cx="2670029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05074" y="1638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ayer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4834" y="1787760"/>
            <a:ext cx="168480" cy="1684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12059" y="2232000"/>
            <a:ext cx="2454029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4120E"/>
                </a:solidFill>
              </a:rPr>
              <a:t>Arabic &amp; RTL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0058" y="2646000"/>
            <a:ext cx="2418030" cy="1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Full Arabic UI, RTL layout, localized MENA food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1289" y="2520000"/>
            <a:ext cx="19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6A1A"/>
                </a:solidFill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0089" y="1440000"/>
            <a:ext cx="2670029" cy="259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0089" y="1440000"/>
            <a:ext cx="2670029" cy="324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91104" y="1638000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user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0864" y="1787760"/>
            <a:ext cx="168480" cy="168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98089" y="2232000"/>
            <a:ext cx="2454029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4120E"/>
                </a:solidFill>
              </a:rPr>
              <a:t>Coach Marketplace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6088" y="2646000"/>
            <a:ext cx="2418030" cy="1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0">
                <a:solidFill>
                  <a:srgbClr val="666666"/>
                </a:solidFill>
              </a:rPr>
              <a:t>Certified coaches manage clients through a shared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0"/>
            <a:ext cx="11112119" cy="12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200" b="1">
                <a:solidFill>
                  <a:srgbClr val="14120E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000" y="2988000"/>
            <a:ext cx="11112119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6A1A"/>
                </a:solidFill>
              </a:rP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000" y="3564000"/>
            <a:ext cx="6480000" cy="21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000" y="3671999"/>
            <a:ext cx="11112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</a:rPr>
              <a:t>Mohamed Taha  ·  Medhat Ahmed  ·  Ahmed Saber  ·  Mohammed Gamal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000" y="3941999"/>
            <a:ext cx="1111211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</a:rPr>
              <a:t>Dr. Osama Ismail  ·  TA. Doaa Ghaleb  ·  Cairo University FCAI  · 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96119" y="468000"/>
            <a:ext cx="720000" cy="720000"/>
          </a:xfrm>
          <a:prstGeom prst="roundRect">
            <a:avLst>
              <a:gd name="adj" fmla="val 28000"/>
            </a:avLst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-circle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6519" y="698400"/>
            <a:ext cx="259200" cy="25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